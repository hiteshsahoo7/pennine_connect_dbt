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View from inside a stone structure, looking out towards stairs and a clear, blue sky"/>
          <p:cNvSpPr/>
          <p:nvPr>
            <p:ph type="pic" idx="21"/>
          </p:nvPr>
        </p:nvSpPr>
        <p:spPr>
          <a:xfrm>
            <a:off x="0" y="-1270000"/>
            <a:ext cx="24384000" cy="16272934"/>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A modern white building with glass panels against a clear, blue sky"/>
          <p:cNvSpPr/>
          <p:nvPr>
            <p:ph type="pic" idx="21"/>
          </p:nvPr>
        </p:nvSpPr>
        <p:spPr>
          <a:xfrm>
            <a:off x="9271000" y="1270000"/>
            <a:ext cx="16764000" cy="111760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Small section of a modern shell bridge in Qingdao, Shandong, China with a partly cloudy sky above"/>
          <p:cNvSpPr/>
          <p:nvPr>
            <p:ph type="pic" idx="22"/>
          </p:nvPr>
        </p:nvSpPr>
        <p:spPr>
          <a:xfrm>
            <a:off x="9271000" y="1263848"/>
            <a:ext cx="16773843" cy="11188205"/>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Low-angle exterior view of a modern building facade covered with aluminium discs under a clear, blue sky"/>
          <p:cNvSpPr/>
          <p:nvPr>
            <p:ph type="pic" sz="quarter" idx="21"/>
          </p:nvPr>
        </p:nvSpPr>
        <p:spPr>
          <a:xfrm>
            <a:off x="15417800" y="1270000"/>
            <a:ext cx="8144934" cy="5410200"/>
          </a:xfrm>
          <a:prstGeom prst="rect">
            <a:avLst/>
          </a:prstGeom>
        </p:spPr>
        <p:txBody>
          <a:bodyPr lIns="91439" tIns="45719" rIns="91439" bIns="45719">
            <a:noAutofit/>
          </a:bodyPr>
          <a:lstStyle/>
          <a:p>
            <a:pPr/>
          </a:p>
        </p:txBody>
      </p:sp>
      <p:sp>
        <p:nvSpPr>
          <p:cNvPr id="145" name="Low-angle view of a modern, curved building under a cloudy sky"/>
          <p:cNvSpPr/>
          <p:nvPr>
            <p:ph type="pic" sz="quarter" idx="22"/>
          </p:nvPr>
        </p:nvSpPr>
        <p:spPr>
          <a:xfrm>
            <a:off x="15443200" y="7086600"/>
            <a:ext cx="8138580" cy="5422900"/>
          </a:xfrm>
          <a:prstGeom prst="rect">
            <a:avLst/>
          </a:prstGeom>
        </p:spPr>
        <p:txBody>
          <a:bodyPr lIns="91439" tIns="45719" rIns="91439" bIns="45719">
            <a:noAutofit/>
          </a:bodyPr>
          <a:lstStyle/>
          <a:p>
            <a:pPr/>
          </a:p>
        </p:txBody>
      </p:sp>
      <p:sp>
        <p:nvSpPr>
          <p:cNvPr id="146" name="View from inside a modern white building with glass panels, looking up to a bright, partly cloudy sky"/>
          <p:cNvSpPr/>
          <p:nvPr>
            <p:ph type="pic" idx="23"/>
          </p:nvPr>
        </p:nvSpPr>
        <p:spPr>
          <a:xfrm>
            <a:off x="-124635" y="1270000"/>
            <a:ext cx="16840169" cy="11243712"/>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Low-angle view of the Azadi Tower in Tehran, Iran against a clear, bright sky"/>
          <p:cNvSpPr/>
          <p:nvPr>
            <p:ph type="pic" idx="21"/>
          </p:nvPr>
        </p:nvSpPr>
        <p:spPr>
          <a:xfrm>
            <a:off x="0" y="-1282700"/>
            <a:ext cx="24384000" cy="162814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Hitesh Sahoo…"/>
          <p:cNvSpPr txBox="1"/>
          <p:nvPr>
            <p:ph type="body" idx="21"/>
          </p:nvPr>
        </p:nvSpPr>
        <p:spPr>
          <a:xfrm>
            <a:off x="18883625" y="11452586"/>
            <a:ext cx="4288718" cy="1044255"/>
          </a:xfrm>
          <a:prstGeom prst="rect">
            <a:avLst/>
          </a:prstGeom>
          <a:extLst>
            <a:ext uri="{C572A759-6A51-4108-AA02-DFA0A04FC94B}">
              <ma14:wrappingTextBoxFlag xmlns:ma14="http://schemas.microsoft.com/office/mac/drawingml/2011/main" val="1"/>
            </a:ext>
          </a:extLst>
        </p:spPr>
        <p:txBody>
          <a:bodyPr/>
          <a:lstStyle/>
          <a:p>
            <a:pPr defTabSz="709930">
              <a:defRPr sz="3096"/>
            </a:pPr>
            <a:r>
              <a:t>Hitesh Sahoo </a:t>
            </a:r>
          </a:p>
          <a:p>
            <a:pPr defTabSz="709930">
              <a:defRPr sz="3096"/>
            </a:pPr>
            <a:r>
              <a:t>2nd July, 2026</a:t>
            </a:r>
          </a:p>
        </p:txBody>
      </p:sp>
      <p:sp>
        <p:nvSpPr>
          <p:cNvPr id="172" name="Pennine Connect Analysis"/>
          <p:cNvSpPr txBox="1"/>
          <p:nvPr>
            <p:ph type="ctrTitle"/>
          </p:nvPr>
        </p:nvSpPr>
        <p:spPr>
          <a:xfrm>
            <a:off x="1206498" y="2131220"/>
            <a:ext cx="21971004" cy="4648201"/>
          </a:xfrm>
          <a:prstGeom prst="rect">
            <a:avLst/>
          </a:prstGeom>
        </p:spPr>
        <p:txBody>
          <a:bodyPr/>
          <a:lstStyle/>
          <a:p>
            <a:pPr/>
            <a:r>
              <a:t>Pennine Connect Analysis</a:t>
            </a:r>
          </a:p>
        </p:txBody>
      </p:sp>
      <p:sp>
        <p:nvSpPr>
          <p:cNvPr id="173" name="Turning operational data into actionable churn insights"/>
          <p:cNvSpPr txBox="1"/>
          <p:nvPr>
            <p:ph type="subTitle" sz="quarter" idx="1"/>
          </p:nvPr>
        </p:nvSpPr>
        <p:spPr>
          <a:prstGeom prst="rect">
            <a:avLst/>
          </a:prstGeom>
        </p:spPr>
        <p:txBody>
          <a:bodyPr/>
          <a:lstStyle/>
          <a:p>
            <a:pPr/>
            <a:r>
              <a:t>Turning operational data into actionable churn insights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Business Problem"/>
          <p:cNvSpPr txBox="1"/>
          <p:nvPr>
            <p:ph type="title"/>
          </p:nvPr>
        </p:nvSpPr>
        <p:spPr>
          <a:xfrm>
            <a:off x="6826612" y="-136088"/>
            <a:ext cx="13501417" cy="2268776"/>
          </a:xfrm>
          <a:prstGeom prst="rect">
            <a:avLst/>
          </a:prstGeom>
        </p:spPr>
        <p:txBody>
          <a:bodyPr/>
          <a:lstStyle>
            <a:lvl1pPr>
              <a:defRPr spc="-194" sz="9700"/>
            </a:lvl1pPr>
          </a:lstStyle>
          <a:p>
            <a:pPr/>
            <a:r>
              <a:t>Business Problem</a:t>
            </a:r>
          </a:p>
        </p:txBody>
      </p:sp>
      <p:sp>
        <p:nvSpPr>
          <p:cNvPr id="176" name="Current challenge :-…"/>
          <p:cNvSpPr txBox="1"/>
          <p:nvPr/>
        </p:nvSpPr>
        <p:spPr>
          <a:xfrm>
            <a:off x="1380300" y="3474866"/>
            <a:ext cx="20242545" cy="480229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lnSpc>
                <a:spcPct val="80000"/>
              </a:lnSpc>
              <a:spcBef>
                <a:spcPts val="0"/>
              </a:spcBef>
              <a:defRPr b="1" spc="-90" sz="4500"/>
            </a:pPr>
            <a:r>
              <a:t>Current challenge :- </a:t>
            </a:r>
          </a:p>
          <a:p>
            <a:pPr>
              <a:lnSpc>
                <a:spcPct val="80000"/>
              </a:lnSpc>
              <a:spcBef>
                <a:spcPts val="0"/>
              </a:spcBef>
              <a:defRPr spc="-90" sz="4500">
                <a:latin typeface="Helvetica Neue Medium"/>
                <a:ea typeface="Helvetica Neue Medium"/>
                <a:cs typeface="Helvetica Neue Medium"/>
                <a:sym typeface="Helvetica Neue Medium"/>
              </a:defRPr>
            </a:pPr>
          </a:p>
          <a:p>
            <a:pPr lvl="1" marL="1181100" indent="-571500">
              <a:lnSpc>
                <a:spcPct val="80000"/>
              </a:lnSpc>
              <a:spcBef>
                <a:spcPts val="0"/>
              </a:spcBef>
              <a:buSzPct val="123000"/>
              <a:buChar char="•"/>
              <a:defRPr spc="-90" sz="4500">
                <a:latin typeface="Helvetica Neue Medium"/>
                <a:ea typeface="Helvetica Neue Medium"/>
                <a:cs typeface="Helvetica Neue Medium"/>
                <a:sym typeface="Helvetica Neue Medium"/>
              </a:defRPr>
            </a:pPr>
            <a:r>
              <a:t>Data exists across multiple operational systems</a:t>
            </a:r>
          </a:p>
          <a:p>
            <a:pPr lvl="1" marL="1181100" indent="-571500">
              <a:lnSpc>
                <a:spcPct val="80000"/>
              </a:lnSpc>
              <a:spcBef>
                <a:spcPts val="0"/>
              </a:spcBef>
              <a:buSzPct val="123000"/>
              <a:buChar char="•"/>
              <a:defRPr spc="-90" sz="4500">
                <a:latin typeface="Helvetica Neue Medium"/>
                <a:ea typeface="Helvetica Neue Medium"/>
                <a:cs typeface="Helvetica Neue Medium"/>
                <a:sym typeface="Helvetica Neue Medium"/>
              </a:defRPr>
            </a:pPr>
            <a:r>
              <a:t>No unified customer lifecycle view</a:t>
            </a:r>
          </a:p>
          <a:p>
            <a:pPr lvl="1" marL="1181100" indent="-571500">
              <a:lnSpc>
                <a:spcPct val="80000"/>
              </a:lnSpc>
              <a:spcBef>
                <a:spcPts val="0"/>
              </a:spcBef>
              <a:buSzPct val="123000"/>
              <a:buChar char="•"/>
              <a:defRPr spc="-90" sz="4500">
                <a:latin typeface="Helvetica Neue Medium"/>
                <a:ea typeface="Helvetica Neue Medium"/>
                <a:cs typeface="Helvetica Neue Medium"/>
                <a:sym typeface="Helvetica Neue Medium"/>
              </a:defRPr>
            </a:pPr>
            <a:r>
              <a:t>Difficult to identify early warning signals</a:t>
            </a:r>
          </a:p>
          <a:p>
            <a:pPr lvl="1" marL="1181100" indent="-571500">
              <a:lnSpc>
                <a:spcPct val="80000"/>
              </a:lnSpc>
              <a:spcBef>
                <a:spcPts val="0"/>
              </a:spcBef>
              <a:buSzPct val="123000"/>
              <a:buChar char="•"/>
              <a:defRPr spc="-90" sz="4500">
                <a:latin typeface="Helvetica Neue Medium"/>
                <a:ea typeface="Helvetica Neue Medium"/>
                <a:cs typeface="Helvetica Neue Medium"/>
                <a:sym typeface="Helvetica Neue Medium"/>
              </a:defRPr>
            </a:pPr>
            <a:r>
              <a:t>Customer churn is reactive</a:t>
            </a:r>
          </a:p>
        </p:txBody>
      </p:sp>
      <p:sp>
        <p:nvSpPr>
          <p:cNvPr id="177" name="Goal: Build a reliable churn analytics layer to identify at-risk customers earlier"/>
          <p:cNvSpPr txBox="1"/>
          <p:nvPr/>
        </p:nvSpPr>
        <p:spPr>
          <a:xfrm>
            <a:off x="1065806" y="9619342"/>
            <a:ext cx="20057937" cy="78352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a:lnSpc>
                <a:spcPct val="80000"/>
              </a:lnSpc>
              <a:spcBef>
                <a:spcPts val="0"/>
              </a:spcBef>
              <a:defRPr spc="-90" sz="4500">
                <a:latin typeface="Helvetica Neue Medium"/>
                <a:ea typeface="Helvetica Neue Medium"/>
                <a:cs typeface="Helvetica Neue Medium"/>
                <a:sym typeface="Helvetica Neue Medium"/>
              </a:defRPr>
            </a:pPr>
            <a:r>
              <a:rPr b="1">
                <a:solidFill>
                  <a:schemeClr val="accent3"/>
                </a:solidFill>
                <a:latin typeface="+mn-lt"/>
                <a:ea typeface="+mn-ea"/>
                <a:cs typeface="+mn-cs"/>
                <a:sym typeface="Helvetica Neue"/>
              </a:rPr>
              <a:t>Goal</a:t>
            </a:r>
            <a:r>
              <a:t>: Build a reliable churn analytics layer to identify at-risk customers earlier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Part A — Model the data…"/>
          <p:cNvSpPr txBox="1"/>
          <p:nvPr>
            <p:ph type="title"/>
          </p:nvPr>
        </p:nvSpPr>
        <p:spPr>
          <a:xfrm>
            <a:off x="643561" y="1571081"/>
            <a:ext cx="23234716" cy="10120735"/>
          </a:xfrm>
          <a:prstGeom prst="rect">
            <a:avLst/>
          </a:prstGeom>
        </p:spPr>
        <p:txBody>
          <a:bodyPr/>
          <a:lstStyle/>
          <a:p>
            <a:pPr defTabSz="452627">
              <a:lnSpc>
                <a:spcPct val="100000"/>
              </a:lnSpc>
              <a:defRPr spc="0" sz="1188">
                <a:latin typeface="Arial"/>
                <a:ea typeface="Arial"/>
                <a:cs typeface="Arial"/>
                <a:sym typeface="Arial"/>
              </a:defRPr>
            </a:pPr>
          </a:p>
          <a:p>
            <a:pPr defTabSz="452627">
              <a:lnSpc>
                <a:spcPct val="100000"/>
              </a:lnSpc>
              <a:defRPr b="1" spc="0" sz="7919">
                <a:solidFill>
                  <a:srgbClr val="3988C2"/>
                </a:solidFill>
                <a:latin typeface="Arial"/>
                <a:ea typeface="Arial"/>
                <a:cs typeface="Arial"/>
                <a:sym typeface="Arial"/>
              </a:defRPr>
            </a:pPr>
            <a:r>
              <a:t>Part A — Model the data </a:t>
            </a:r>
          </a:p>
          <a:p>
            <a:pPr defTabSz="452627">
              <a:lnSpc>
                <a:spcPct val="100000"/>
              </a:lnSpc>
              <a:defRPr b="1" spc="0" sz="6633">
                <a:latin typeface="Arial"/>
                <a:ea typeface="Arial"/>
                <a:cs typeface="Arial"/>
                <a:sym typeface="Arial"/>
              </a:defRPr>
            </a:pPr>
            <a:r>
              <a:t>Build a clean monthly subscription fact suitable for churn reporting:  </a:t>
            </a:r>
          </a:p>
          <a:p>
            <a:pPr defTabSz="452627">
              <a:lnSpc>
                <a:spcPct val="100000"/>
              </a:lnSpc>
              <a:defRPr spc="0" sz="6633">
                <a:latin typeface="Arial"/>
                <a:ea typeface="Arial"/>
                <a:cs typeface="Arial"/>
                <a:sym typeface="Arial"/>
              </a:defRPr>
            </a:pPr>
          </a:p>
          <a:p>
            <a:pPr defTabSz="452627">
              <a:lnSpc>
                <a:spcPct val="100000"/>
              </a:lnSpc>
              <a:defRPr b="1" spc="0" sz="4950">
                <a:latin typeface="Arial"/>
                <a:ea typeface="Arial"/>
                <a:cs typeface="Arial"/>
                <a:sym typeface="Arial"/>
              </a:defRPr>
            </a:pPr>
            <a:r>
              <a:rPr b="0"/>
              <a:t>1. </a:t>
            </a:r>
            <a:r>
              <a:t>One row per active subscription per month</a:t>
            </a:r>
            <a:r>
              <a:rPr b="0"/>
              <a:t>, with its MRR. </a:t>
            </a:r>
            <a:endParaRPr b="0"/>
          </a:p>
          <a:p>
            <a:pPr defTabSz="452627">
              <a:lnSpc>
                <a:spcPct val="100000"/>
              </a:lnSpc>
              <a:defRPr b="1" spc="0" sz="4950">
                <a:latin typeface="Arial"/>
                <a:ea typeface="Arial"/>
                <a:cs typeface="Arial"/>
                <a:sym typeface="Arial"/>
              </a:defRPr>
            </a:pPr>
            <a:endParaRPr b="0"/>
          </a:p>
          <a:p>
            <a:pPr defTabSz="452627">
              <a:lnSpc>
                <a:spcPct val="100000"/>
              </a:lnSpc>
              <a:defRPr spc="0" sz="4950">
                <a:latin typeface="Arial"/>
                <a:ea typeface="Arial"/>
                <a:cs typeface="Arial"/>
                <a:sym typeface="Arial"/>
              </a:defRPr>
            </a:pPr>
            <a:r>
              <a:t>2. Resolve any data-quality problems you find, and briefly document what you did and why. </a:t>
            </a:r>
          </a:p>
          <a:p>
            <a:pPr defTabSz="452627">
              <a:lnSpc>
                <a:spcPct val="100000"/>
              </a:lnSpc>
              <a:defRPr spc="0" sz="4950">
                <a:latin typeface="Arial"/>
                <a:ea typeface="Arial"/>
                <a:cs typeface="Arial"/>
                <a:sym typeface="Arial"/>
              </a:defRPr>
            </a:pPr>
          </a:p>
          <a:p>
            <a:pPr defTabSz="452627">
              <a:lnSpc>
                <a:spcPct val="100000"/>
              </a:lnSpc>
              <a:defRPr b="1" spc="0" sz="4950">
                <a:latin typeface="Arial"/>
                <a:ea typeface="Arial"/>
                <a:cs typeface="Arial"/>
                <a:sym typeface="Arial"/>
              </a:defRPr>
            </a:pPr>
            <a:r>
              <a:rPr b="0"/>
              <a:t>3. Flag each subscription’s lifecycle state </a:t>
            </a:r>
            <a:r>
              <a:t>(active, voluntary cancellation, cancelled-before-go-live, fraud, reactivation)</a:t>
            </a:r>
            <a:r>
              <a:rPr b="0"/>
              <a:t>. </a:t>
            </a:r>
            <a:endParaRPr b="0"/>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Part A.2 : Data Quality Checks"/>
          <p:cNvSpPr txBox="1"/>
          <p:nvPr>
            <p:ph type="title"/>
          </p:nvPr>
        </p:nvSpPr>
        <p:spPr>
          <a:xfrm>
            <a:off x="4331847" y="-289193"/>
            <a:ext cx="15720306" cy="1998998"/>
          </a:xfrm>
          <a:prstGeom prst="rect">
            <a:avLst/>
          </a:prstGeom>
        </p:spPr>
        <p:txBody>
          <a:bodyPr/>
          <a:lstStyle>
            <a:lvl1pPr>
              <a:defRPr spc="-138" sz="6900"/>
            </a:lvl1pPr>
          </a:lstStyle>
          <a:p>
            <a:pPr/>
            <a:r>
              <a:t>Part A.2 : Data Quality Checks</a:t>
            </a:r>
          </a:p>
        </p:txBody>
      </p:sp>
      <p:sp>
        <p:nvSpPr>
          <p:cNvPr id="182" name="No Data quality issues detected.…"/>
          <p:cNvSpPr txBox="1"/>
          <p:nvPr/>
        </p:nvSpPr>
        <p:spPr>
          <a:xfrm>
            <a:off x="1096518" y="2437879"/>
            <a:ext cx="23435349" cy="105828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170121">
              <a:lnSpc>
                <a:spcPct val="80000"/>
              </a:lnSpc>
              <a:spcBef>
                <a:spcPts val="0"/>
              </a:spcBef>
              <a:defRPr spc="-80" sz="4005">
                <a:solidFill>
                  <a:schemeClr val="accent3">
                    <a:hueOff val="362282"/>
                    <a:satOff val="31803"/>
                    <a:lumOff val="-18242"/>
                  </a:schemeClr>
                </a:solidFill>
                <a:latin typeface="Helvetica Neue Medium"/>
                <a:ea typeface="Helvetica Neue Medium"/>
                <a:cs typeface="Helvetica Neue Medium"/>
                <a:sym typeface="Helvetica Neue Medium"/>
              </a:defRPr>
            </a:pPr>
            <a:r>
              <a:t>No Data quality issues detected.</a:t>
            </a:r>
          </a:p>
          <a:p>
            <a:pPr defTabSz="2170121">
              <a:lnSpc>
                <a:spcPct val="80000"/>
              </a:lnSpc>
              <a:spcBef>
                <a:spcPts val="0"/>
              </a:spcBef>
              <a:defRPr spc="-80" sz="4005">
                <a:solidFill>
                  <a:schemeClr val="accent3"/>
                </a:solidFill>
                <a:latin typeface="Helvetica Neue Medium"/>
                <a:ea typeface="Helvetica Neue Medium"/>
                <a:cs typeface="Helvetica Neue Medium"/>
                <a:sym typeface="Helvetica Neue Medium"/>
              </a:defRPr>
            </a:pPr>
          </a:p>
          <a:p>
            <a:pPr defTabSz="2170121">
              <a:lnSpc>
                <a:spcPct val="80000"/>
              </a:lnSpc>
              <a:spcBef>
                <a:spcPts val="0"/>
              </a:spcBef>
              <a:defRPr spc="-80" sz="4005" u="sng">
                <a:latin typeface="Helvetica Neue Medium"/>
                <a:ea typeface="Helvetica Neue Medium"/>
                <a:cs typeface="Helvetica Neue Medium"/>
                <a:sym typeface="Helvetica Neue Medium"/>
              </a:defRPr>
            </a:pPr>
            <a:r>
              <a:t>Observations: </a:t>
            </a: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Significant decline observed from Jan'23 → Feb'23 (21 → 12).</a:t>
            </a:r>
          </a:p>
          <a:p>
            <a:pPr defTabSz="2170121">
              <a:lnSpc>
                <a:spcPct val="80000"/>
              </a:lnSpc>
              <a:spcBef>
                <a:spcPts val="0"/>
              </a:spcBef>
              <a:defRPr spc="-62" sz="311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Sharp seasonal drop during Oct'23 → Nov'23 (15 → 6).</a:t>
            </a:r>
          </a:p>
          <a:p>
            <a:pPr defTabSz="2170121">
              <a:lnSpc>
                <a:spcPct val="80000"/>
              </a:lnSpc>
              <a:spcBef>
                <a:spcPts val="0"/>
              </a:spcBef>
              <a:defRPr spc="-62" sz="311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Strong recovery in Nov'23 → Dec'23 (6 → 16).</a:t>
            </a:r>
          </a:p>
          <a:p>
            <a:pPr defTabSz="2170121">
              <a:lnSpc>
                <a:spcPct val="80000"/>
              </a:lnSpc>
              <a:spcBef>
                <a:spcPts val="0"/>
              </a:spcBef>
              <a:defRPr spc="-62" sz="311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Peak performance observed in Feb'24 → Mar'24 (13 → 26).</a:t>
            </a:r>
          </a:p>
          <a:p>
            <a:pPr defTabSz="2170121">
              <a:lnSpc>
                <a:spcPct val="80000"/>
              </a:lnSpc>
              <a:spcBef>
                <a:spcPts val="0"/>
              </a:spcBef>
              <a:defRPr spc="-62" sz="311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Consistent post-March decline across years (Mar'24 → Apr'24: 26 → 19, Mar'25 → Apr'25: 20 → 13), suggesting a recurring seasonal trend.</a:t>
            </a:r>
          </a:p>
          <a:p>
            <a:pPr defTabSz="2170121">
              <a:lnSpc>
                <a:spcPct val="80000"/>
              </a:lnSpc>
              <a:spcBef>
                <a:spcPts val="0"/>
              </a:spcBef>
              <a:defRPr spc="-62" sz="311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Nov'25 → Dec'25 showed a decline (20 → 14), unlike the previous years, indicating a potential area for investigation.</a:t>
            </a:r>
          </a:p>
          <a:p>
            <a:pPr defTabSz="2170121">
              <a:lnSpc>
                <a:spcPct val="80000"/>
              </a:lnSpc>
              <a:spcBef>
                <a:spcPts val="0"/>
              </a:spcBef>
              <a:defRPr spc="-80" sz="4005">
                <a:latin typeface="Helvetica Neue Medium"/>
                <a:ea typeface="Helvetica Neue Medium"/>
                <a:cs typeface="Helvetica Neue Medium"/>
                <a:sym typeface="Helvetica Neue Medium"/>
              </a:defRPr>
            </a:pPr>
          </a:p>
          <a:p>
            <a:pPr defTabSz="2170121">
              <a:lnSpc>
                <a:spcPct val="80000"/>
              </a:lnSpc>
              <a:spcBef>
                <a:spcPts val="0"/>
              </a:spcBef>
              <a:defRPr spc="-80" sz="4005" u="sng">
                <a:latin typeface="Helvetica Neue Medium"/>
                <a:ea typeface="Helvetica Neue Medium"/>
                <a:cs typeface="Helvetica Neue Medium"/>
                <a:sym typeface="Helvetica Neue Medium"/>
              </a:defRPr>
            </a:pPr>
            <a:r>
              <a:t>Implementation:</a:t>
            </a: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CDC to track changes of customers for SCD2 implementation.</a:t>
            </a:r>
          </a:p>
          <a:p>
            <a:pPr defTabSz="2170121">
              <a:lnSpc>
                <a:spcPct val="80000"/>
              </a:lnSpc>
              <a:spcBef>
                <a:spcPts val="0"/>
              </a:spcBef>
              <a:defRPr spc="-62" sz="311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r>
              <a:t>Added Column “customer_tenure_days” i.e. since how long customer is part.</a:t>
            </a:r>
          </a:p>
          <a:p>
            <a:pPr defTabSz="2170121">
              <a:lnSpc>
                <a:spcPct val="80000"/>
              </a:lnSpc>
              <a:spcBef>
                <a:spcPts val="0"/>
              </a:spcBef>
              <a:defRPr spc="-80" sz="4005">
                <a:latin typeface="Helvetica Neue Medium"/>
                <a:ea typeface="Helvetica Neue Medium"/>
                <a:cs typeface="Helvetica Neue Medium"/>
                <a:sym typeface="Helvetica Neue Medium"/>
              </a:defRPr>
            </a:pPr>
          </a:p>
          <a:p>
            <a:pPr lvl="1" marL="1051178" indent="-508634" defTabSz="2170121">
              <a:lnSpc>
                <a:spcPct val="80000"/>
              </a:lnSpc>
              <a:spcBef>
                <a:spcPts val="0"/>
              </a:spcBef>
              <a:buSzPct val="123000"/>
              <a:buChar char="•"/>
              <a:defRPr spc="-62" sz="3115">
                <a:latin typeface="Helvetica Neue Medium"/>
                <a:ea typeface="Helvetica Neue Medium"/>
                <a:cs typeface="Helvetica Neue Medium"/>
                <a:sym typeface="Helvetica Neue Medium"/>
              </a:defRPr>
            </a:pPr>
          </a:p>
          <a:p>
            <a:pPr defTabSz="2170121">
              <a:lnSpc>
                <a:spcPct val="80000"/>
              </a:lnSpc>
              <a:spcBef>
                <a:spcPts val="0"/>
              </a:spcBef>
              <a:defRPr spc="-80" sz="4005">
                <a:latin typeface="Helvetica Neue Medium"/>
                <a:ea typeface="Helvetica Neue Medium"/>
                <a:cs typeface="Helvetica Neue Medium"/>
                <a:sym typeface="Helvetica Neue Medium"/>
              </a:defRPr>
            </a:pPr>
          </a:p>
        </p:txBody>
      </p:sp>
      <p:sp>
        <p:nvSpPr>
          <p:cNvPr id="183" name="1. Customers Data(TB_CUSTOMERS)"/>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a:lvl1pPr>
          </a:lstStyle>
          <a:p>
            <a:pPr/>
            <a:r>
              <a:t>1. Customers Data(TB_CUSTOMERS)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Data issue detected…"/>
          <p:cNvSpPr txBox="1"/>
          <p:nvPr/>
        </p:nvSpPr>
        <p:spPr>
          <a:xfrm>
            <a:off x="1096518" y="2437879"/>
            <a:ext cx="23435349" cy="105828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292038">
              <a:lnSpc>
                <a:spcPct val="80000"/>
              </a:lnSpc>
              <a:spcBef>
                <a:spcPts val="0"/>
              </a:spcBef>
              <a:defRPr i="1" spc="-84" sz="4230">
                <a:solidFill>
                  <a:schemeClr val="accent5">
                    <a:hueOff val="-82419"/>
                    <a:satOff val="-9513"/>
                    <a:lumOff val="-16343"/>
                  </a:schemeClr>
                </a:solidFill>
              </a:defRPr>
            </a:pPr>
            <a:r>
              <a:t>Data issue detected </a:t>
            </a:r>
          </a:p>
          <a:p>
            <a:pPr defTabSz="2292038">
              <a:lnSpc>
                <a:spcPct val="80000"/>
              </a:lnSpc>
              <a:spcBef>
                <a:spcPts val="0"/>
              </a:spcBef>
              <a:defRPr spc="-84" sz="4230">
                <a:solidFill>
                  <a:schemeClr val="accent3"/>
                </a:solidFill>
                <a:latin typeface="Helvetica Neue Medium"/>
                <a:ea typeface="Helvetica Neue Medium"/>
                <a:cs typeface="Helvetica Neue Medium"/>
                <a:sym typeface="Helvetica Neue Medium"/>
              </a:defRPr>
            </a:pPr>
          </a:p>
          <a:p>
            <a:pPr defTabSz="2292038">
              <a:lnSpc>
                <a:spcPct val="80000"/>
              </a:lnSpc>
              <a:spcBef>
                <a:spcPts val="0"/>
              </a:spcBef>
              <a:defRPr spc="-84" sz="4230" u="sng">
                <a:latin typeface="Helvetica Neue Medium"/>
                <a:ea typeface="Helvetica Neue Medium"/>
                <a:cs typeface="Helvetica Neue Medium"/>
                <a:sym typeface="Helvetica Neue Medium"/>
              </a:defRPr>
            </a:pPr>
            <a:r>
              <a:t>Observations: </a:t>
            </a: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r>
              <a:t> 32 rows are duplicated | Need to dedup else MRR will spike.</a:t>
            </a:r>
          </a:p>
          <a:p>
            <a:pPr defTabSz="2292038">
              <a:lnSpc>
                <a:spcPct val="80000"/>
              </a:lnSpc>
              <a:spcBef>
                <a:spcPts val="0"/>
              </a:spcBef>
              <a:defRPr spc="-65" sz="329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r>
              <a:t>10 Active customers having go live date as future, so they are yet to go live, so no need to calculate MRR that will spike</a:t>
            </a:r>
          </a:p>
          <a:p>
            <a:pPr defTabSz="2292038">
              <a:lnSpc>
                <a:spcPct val="80000"/>
              </a:lnSpc>
              <a:spcBef>
                <a:spcPts val="0"/>
              </a:spcBef>
              <a:defRPr spc="-65" sz="329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r>
              <a:t> For Subscription 100067 with Customer 57 status is doa but Cancelled Date is in future i.e. 2026-07-20.</a:t>
            </a:r>
          </a:p>
          <a:p>
            <a:pPr defTabSz="2292038">
              <a:lnSpc>
                <a:spcPct val="80000"/>
              </a:lnSpc>
              <a:spcBef>
                <a:spcPts val="0"/>
              </a:spcBef>
              <a:defRPr spc="-65" sz="329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p>
          <a:p>
            <a:pPr defTabSz="2292038">
              <a:lnSpc>
                <a:spcPct val="80000"/>
              </a:lnSpc>
              <a:spcBef>
                <a:spcPts val="0"/>
              </a:spcBef>
              <a:defRPr spc="-84" sz="4230">
                <a:latin typeface="Helvetica Neue Medium"/>
                <a:ea typeface="Helvetica Neue Medium"/>
                <a:cs typeface="Helvetica Neue Medium"/>
                <a:sym typeface="Helvetica Neue Medium"/>
              </a:defRPr>
            </a:pPr>
          </a:p>
          <a:p>
            <a:pPr defTabSz="2292038">
              <a:lnSpc>
                <a:spcPct val="80000"/>
              </a:lnSpc>
              <a:spcBef>
                <a:spcPts val="0"/>
              </a:spcBef>
              <a:defRPr spc="-84" sz="4230" u="sng">
                <a:latin typeface="Helvetica Neue Medium"/>
                <a:ea typeface="Helvetica Neue Medium"/>
                <a:cs typeface="Helvetica Neue Medium"/>
                <a:sym typeface="Helvetica Neue Medium"/>
              </a:defRPr>
            </a:pPr>
            <a:r>
              <a:t>Implementation:</a:t>
            </a: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r>
              <a:t>Deduplicated in staging model using row_number() = 1</a:t>
            </a:r>
          </a:p>
          <a:p>
            <a:pPr defTabSz="2292038">
              <a:lnSpc>
                <a:spcPct val="80000"/>
              </a:lnSpc>
              <a:spcBef>
                <a:spcPts val="0"/>
              </a:spcBef>
              <a:defRPr spc="-65" sz="329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r>
              <a:t>Added flag column is_pending_activation_flag where go_live_date &gt; current_date.</a:t>
            </a:r>
          </a:p>
          <a:p>
            <a:pPr defTabSz="2292038">
              <a:lnSpc>
                <a:spcPct val="80000"/>
              </a:lnSpc>
              <a:spcBef>
                <a:spcPts val="0"/>
              </a:spcBef>
              <a:defRPr spc="-65" sz="329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r>
              <a:t>Logically inconsistent for “doa” but held for Business input before correction rather than silently auto-fix.</a:t>
            </a: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p>
          <a:p>
            <a:pPr defTabSz="2292038">
              <a:lnSpc>
                <a:spcPct val="80000"/>
              </a:lnSpc>
              <a:spcBef>
                <a:spcPts val="0"/>
              </a:spcBef>
              <a:defRPr spc="-84" sz="4230">
                <a:latin typeface="Helvetica Neue Medium"/>
                <a:ea typeface="Helvetica Neue Medium"/>
                <a:cs typeface="Helvetica Neue Medium"/>
                <a:sym typeface="Helvetica Neue Medium"/>
              </a:defRPr>
            </a:pPr>
          </a:p>
          <a:p>
            <a:pPr lvl="1" marL="1110233" indent="-537209" defTabSz="2292038">
              <a:lnSpc>
                <a:spcPct val="80000"/>
              </a:lnSpc>
              <a:spcBef>
                <a:spcPts val="0"/>
              </a:spcBef>
              <a:buSzPct val="123000"/>
              <a:buChar char="•"/>
              <a:defRPr spc="-65" sz="3290">
                <a:latin typeface="Helvetica Neue Medium"/>
                <a:ea typeface="Helvetica Neue Medium"/>
                <a:cs typeface="Helvetica Neue Medium"/>
                <a:sym typeface="Helvetica Neue Medium"/>
              </a:defRPr>
            </a:pPr>
          </a:p>
          <a:p>
            <a:pPr defTabSz="2292038">
              <a:lnSpc>
                <a:spcPct val="80000"/>
              </a:lnSpc>
              <a:spcBef>
                <a:spcPts val="0"/>
              </a:spcBef>
              <a:defRPr spc="-84" sz="4230">
                <a:latin typeface="Helvetica Neue Medium"/>
                <a:ea typeface="Helvetica Neue Medium"/>
                <a:cs typeface="Helvetica Neue Medium"/>
                <a:sym typeface="Helvetica Neue Medium"/>
              </a:defRPr>
            </a:pPr>
          </a:p>
        </p:txBody>
      </p:sp>
      <p:sp>
        <p:nvSpPr>
          <p:cNvPr id="186" name="2. Subscriptions Data(TB_SUBSCRIPTIONS)"/>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a:lvl1pPr>
          </a:lstStyle>
          <a:p>
            <a:pPr/>
            <a:r>
              <a:t>2. Subscriptions Data(TB_SUBSCRIPTIONS)</a:t>
            </a:r>
          </a:p>
        </p:txBody>
      </p:sp>
      <p:sp>
        <p:nvSpPr>
          <p:cNvPr id="187" name="Part A.2 : Data Quality Checks"/>
          <p:cNvSpPr txBox="1"/>
          <p:nvPr>
            <p:ph type="title"/>
          </p:nvPr>
        </p:nvSpPr>
        <p:spPr>
          <a:xfrm>
            <a:off x="4331847" y="-289193"/>
            <a:ext cx="15720306" cy="1998998"/>
          </a:xfrm>
          <a:prstGeom prst="rect">
            <a:avLst/>
          </a:prstGeom>
        </p:spPr>
        <p:txBody>
          <a:bodyPr/>
          <a:lstStyle>
            <a:lvl1pPr>
              <a:defRPr spc="-138" sz="6900"/>
            </a:lvl1pPr>
          </a:lstStyle>
          <a:p>
            <a:pPr/>
            <a:r>
              <a:t>Part A.2 : Data Quality Checks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No Data quality issues detected.…"/>
          <p:cNvSpPr txBox="1"/>
          <p:nvPr/>
        </p:nvSpPr>
        <p:spPr>
          <a:xfrm>
            <a:off x="1096518" y="2437879"/>
            <a:ext cx="23435349" cy="105828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243271">
              <a:lnSpc>
                <a:spcPct val="80000"/>
              </a:lnSpc>
              <a:spcBef>
                <a:spcPts val="0"/>
              </a:spcBef>
              <a:defRPr i="1" spc="-82" sz="4140">
                <a:solidFill>
                  <a:schemeClr val="accent3">
                    <a:hueOff val="362282"/>
                    <a:satOff val="31803"/>
                    <a:lumOff val="-18242"/>
                  </a:schemeClr>
                </a:solidFill>
              </a:defRPr>
            </a:pPr>
            <a:r>
              <a:t>No Data quality issues detected.</a:t>
            </a:r>
          </a:p>
          <a:p>
            <a:pPr defTabSz="2243271">
              <a:lnSpc>
                <a:spcPct val="80000"/>
              </a:lnSpc>
              <a:spcBef>
                <a:spcPts val="0"/>
              </a:spcBef>
              <a:defRPr spc="-82" sz="4140">
                <a:solidFill>
                  <a:schemeClr val="accent3"/>
                </a:solidFill>
                <a:latin typeface="Helvetica Neue Medium"/>
                <a:ea typeface="Helvetica Neue Medium"/>
                <a:cs typeface="Helvetica Neue Medium"/>
                <a:sym typeface="Helvetica Neue Medium"/>
              </a:defRPr>
            </a:pPr>
          </a:p>
          <a:p>
            <a:pPr defTabSz="2243271">
              <a:lnSpc>
                <a:spcPct val="80000"/>
              </a:lnSpc>
              <a:spcBef>
                <a:spcPts val="0"/>
              </a:spcBef>
              <a:defRPr spc="-82" sz="4140" u="sng">
                <a:latin typeface="Helvetica Neue Medium"/>
                <a:ea typeface="Helvetica Neue Medium"/>
                <a:cs typeface="Helvetica Neue Medium"/>
                <a:sym typeface="Helvetica Neue Medium"/>
              </a:defRPr>
            </a:pPr>
            <a:r>
              <a:t>Observations: </a:t>
            </a: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r>
              <a:t> Validated data completeness and integrity by checking for duplicate records, null keys, valid date ranges, and non-negative billing amounts.</a:t>
            </a: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p>
          <a:p>
            <a:pPr defTabSz="2243271">
              <a:lnSpc>
                <a:spcPct val="80000"/>
              </a:lnSpc>
              <a:spcBef>
                <a:spcPts val="0"/>
              </a:spcBef>
              <a:defRPr spc="-64" sz="3220">
                <a:latin typeface="Helvetica Neue Medium"/>
                <a:ea typeface="Helvetica Neue Medium"/>
                <a:cs typeface="Helvetica Neue Medium"/>
                <a:sym typeface="Helvetica Neue Medium"/>
              </a:defRPr>
            </a:pP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r>
              <a:t>Verified business rule consistency, ensuring payment status aligned with amounts (e.g., paid = full payment, unpaid = zero payment, part-paid = partial payment).</a:t>
            </a:r>
          </a:p>
          <a:p>
            <a:pPr defTabSz="2243271">
              <a:lnSpc>
                <a:spcPct val="80000"/>
              </a:lnSpc>
              <a:spcBef>
                <a:spcPts val="0"/>
              </a:spcBef>
              <a:defRPr spc="-64" sz="3220">
                <a:latin typeface="Helvetica Neue Medium"/>
                <a:ea typeface="Helvetica Neue Medium"/>
                <a:cs typeface="Helvetica Neue Medium"/>
                <a:sym typeface="Helvetica Neue Medium"/>
              </a:defRPr>
            </a:pP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r>
              <a:t>No data quality issues identified; the billing dataset was found to be consistent and ready for downstream analytics and churn reporting.</a:t>
            </a:r>
          </a:p>
          <a:p>
            <a:pPr lvl="1" indent="420623" defTabSz="2243271">
              <a:lnSpc>
                <a:spcPct val="80000"/>
              </a:lnSpc>
              <a:spcBef>
                <a:spcPts val="0"/>
              </a:spcBef>
              <a:defRPr spc="-64" sz="3220">
                <a:latin typeface="Helvetica Neue Medium"/>
                <a:ea typeface="Helvetica Neue Medium"/>
                <a:cs typeface="Helvetica Neue Medium"/>
                <a:sym typeface="Helvetica Neue Medium"/>
              </a:defRPr>
            </a:pPr>
          </a:p>
          <a:p>
            <a:pPr defTabSz="2243271">
              <a:lnSpc>
                <a:spcPct val="80000"/>
              </a:lnSpc>
              <a:spcBef>
                <a:spcPts val="0"/>
              </a:spcBef>
              <a:defRPr spc="-64" sz="3220">
                <a:latin typeface="Helvetica Neue Medium"/>
                <a:ea typeface="Helvetica Neue Medium"/>
                <a:cs typeface="Helvetica Neue Medium"/>
                <a:sym typeface="Helvetica Neue Medium"/>
              </a:defRPr>
            </a:pPr>
          </a:p>
          <a:p>
            <a:pPr defTabSz="2243271">
              <a:lnSpc>
                <a:spcPct val="80000"/>
              </a:lnSpc>
              <a:spcBef>
                <a:spcPts val="0"/>
              </a:spcBef>
              <a:defRPr spc="-82" sz="4140" u="sng">
                <a:latin typeface="Helvetica Neue Medium"/>
                <a:ea typeface="Helvetica Neue Medium"/>
                <a:cs typeface="Helvetica Neue Medium"/>
                <a:sym typeface="Helvetica Neue Medium"/>
              </a:defRPr>
            </a:pPr>
            <a:r>
              <a:t>Implementation:</a:t>
            </a: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r>
              <a:t>Created 1-1 mapping staging table.</a:t>
            </a:r>
          </a:p>
          <a:p>
            <a:pPr defTabSz="2243271">
              <a:lnSpc>
                <a:spcPct val="80000"/>
              </a:lnSpc>
              <a:spcBef>
                <a:spcPts val="0"/>
              </a:spcBef>
              <a:defRPr spc="-64" sz="3220">
                <a:latin typeface="Helvetica Neue Medium"/>
                <a:ea typeface="Helvetica Neue Medium"/>
                <a:cs typeface="Helvetica Neue Medium"/>
                <a:sym typeface="Helvetica Neue Medium"/>
              </a:defRPr>
            </a:pP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r>
              <a:rPr b="1" i="1">
                <a:solidFill>
                  <a:schemeClr val="accent5">
                    <a:hueOff val="-82419"/>
                    <a:satOff val="-9513"/>
                    <a:lumOff val="-16343"/>
                  </a:schemeClr>
                </a:solidFill>
                <a:latin typeface="+mn-lt"/>
                <a:ea typeface="+mn-ea"/>
                <a:cs typeface="+mn-cs"/>
                <a:sym typeface="Helvetica Neue"/>
              </a:rPr>
              <a:t>**signal detected : 1**</a:t>
            </a:r>
            <a:r>
              <a:t>Status paid/unpaid/part_paid might be one of the signal for churn. </a:t>
            </a: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p>
          <a:p>
            <a:pPr defTabSz="2243271">
              <a:lnSpc>
                <a:spcPct val="80000"/>
              </a:lnSpc>
              <a:spcBef>
                <a:spcPts val="0"/>
              </a:spcBef>
              <a:defRPr spc="-82" sz="4140">
                <a:latin typeface="Helvetica Neue Medium"/>
                <a:ea typeface="Helvetica Neue Medium"/>
                <a:cs typeface="Helvetica Neue Medium"/>
                <a:sym typeface="Helvetica Neue Medium"/>
              </a:defRPr>
            </a:pPr>
          </a:p>
          <a:p>
            <a:pPr lvl="1" marL="1086612" indent="-525780" defTabSz="2243271">
              <a:lnSpc>
                <a:spcPct val="80000"/>
              </a:lnSpc>
              <a:spcBef>
                <a:spcPts val="0"/>
              </a:spcBef>
              <a:buSzPct val="123000"/>
              <a:buChar char="•"/>
              <a:defRPr spc="-64" sz="3220">
                <a:latin typeface="Helvetica Neue Medium"/>
                <a:ea typeface="Helvetica Neue Medium"/>
                <a:cs typeface="Helvetica Neue Medium"/>
                <a:sym typeface="Helvetica Neue Medium"/>
              </a:defRPr>
            </a:pPr>
          </a:p>
          <a:p>
            <a:pPr defTabSz="2243271">
              <a:lnSpc>
                <a:spcPct val="80000"/>
              </a:lnSpc>
              <a:spcBef>
                <a:spcPts val="0"/>
              </a:spcBef>
              <a:defRPr spc="-82" sz="4140">
                <a:latin typeface="Helvetica Neue Medium"/>
                <a:ea typeface="Helvetica Neue Medium"/>
                <a:cs typeface="Helvetica Neue Medium"/>
                <a:sym typeface="Helvetica Neue Medium"/>
              </a:defRPr>
            </a:pPr>
          </a:p>
        </p:txBody>
      </p:sp>
      <p:sp>
        <p:nvSpPr>
          <p:cNvPr id="190" name="3. Billings Data(TB_BILLINGS)"/>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a:lvl1pPr>
          </a:lstStyle>
          <a:p>
            <a:pPr/>
            <a:r>
              <a:t>3. Billings Data(TB_BILLINGS)</a:t>
            </a:r>
          </a:p>
        </p:txBody>
      </p:sp>
      <p:pic>
        <p:nvPicPr>
          <p:cNvPr id="191" name="pasted-movie.png" descr="pasted-movie.png"/>
          <p:cNvPicPr>
            <a:picLocks noChangeAspect="1"/>
          </p:cNvPicPr>
          <p:nvPr/>
        </p:nvPicPr>
        <p:blipFill>
          <a:blip r:embed="rId2">
            <a:extLst/>
          </a:blip>
          <a:stretch>
            <a:fillRect/>
          </a:stretch>
        </p:blipFill>
        <p:spPr>
          <a:xfrm>
            <a:off x="1560043" y="10379213"/>
            <a:ext cx="16788598" cy="2172455"/>
          </a:xfrm>
          <a:prstGeom prst="rect">
            <a:avLst/>
          </a:prstGeom>
          <a:ln w="12700">
            <a:miter lim="400000"/>
          </a:ln>
        </p:spPr>
      </p:pic>
      <p:sp>
        <p:nvSpPr>
          <p:cNvPr id="192" name="Part A.2 : Data Quality Checks"/>
          <p:cNvSpPr txBox="1"/>
          <p:nvPr>
            <p:ph type="title"/>
          </p:nvPr>
        </p:nvSpPr>
        <p:spPr>
          <a:xfrm>
            <a:off x="4331847" y="-289193"/>
            <a:ext cx="15720306" cy="1998998"/>
          </a:xfrm>
          <a:prstGeom prst="rect">
            <a:avLst/>
          </a:prstGeom>
        </p:spPr>
        <p:txBody>
          <a:bodyPr/>
          <a:lstStyle>
            <a:lvl1pPr>
              <a:defRPr spc="-138" sz="6900"/>
            </a:lvl1pPr>
          </a:lstStyle>
          <a:p>
            <a:pPr/>
            <a:r>
              <a:t>Part A.2 : Data Quality Checks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No Data quality issues detected.…"/>
          <p:cNvSpPr txBox="1"/>
          <p:nvPr/>
        </p:nvSpPr>
        <p:spPr>
          <a:xfrm>
            <a:off x="1096518" y="2437879"/>
            <a:ext cx="23435349" cy="105828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023821">
              <a:lnSpc>
                <a:spcPct val="80000"/>
              </a:lnSpc>
              <a:spcBef>
                <a:spcPts val="0"/>
              </a:spcBef>
              <a:defRPr i="1" spc="-74" sz="3734">
                <a:solidFill>
                  <a:schemeClr val="accent3">
                    <a:hueOff val="362282"/>
                    <a:satOff val="31803"/>
                    <a:lumOff val="-18242"/>
                  </a:schemeClr>
                </a:solidFill>
              </a:defRPr>
            </a:pPr>
            <a:r>
              <a:t>No Data quality issues detected.</a:t>
            </a:r>
          </a:p>
          <a:p>
            <a:pPr defTabSz="2023821">
              <a:lnSpc>
                <a:spcPct val="80000"/>
              </a:lnSpc>
              <a:spcBef>
                <a:spcPts val="0"/>
              </a:spcBef>
              <a:defRPr spc="-74" sz="3734">
                <a:solidFill>
                  <a:schemeClr val="accent3"/>
                </a:solidFill>
                <a:latin typeface="Helvetica Neue Medium"/>
                <a:ea typeface="Helvetica Neue Medium"/>
                <a:cs typeface="Helvetica Neue Medium"/>
                <a:sym typeface="Helvetica Neue Medium"/>
              </a:defRPr>
            </a:pPr>
          </a:p>
          <a:p>
            <a:pPr defTabSz="2023821">
              <a:lnSpc>
                <a:spcPct val="80000"/>
              </a:lnSpc>
              <a:spcBef>
                <a:spcPts val="0"/>
              </a:spcBef>
              <a:defRPr spc="-74" sz="3734" u="sng">
                <a:latin typeface="Helvetica Neue Medium"/>
                <a:ea typeface="Helvetica Neue Medium"/>
                <a:cs typeface="Helvetica Neue Medium"/>
                <a:sym typeface="Helvetica Neue Medium"/>
              </a:defRPr>
            </a:pPr>
            <a:r>
              <a:t>Observations: </a:t>
            </a: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 Data quality is strong with no duplicate records, null primary/foreign keys, or invalid date values.</a:t>
            </a:r>
          </a:p>
          <a:p>
            <a:pPr defTabSz="2023821">
              <a:lnSpc>
                <a:spcPct val="80000"/>
              </a:lnSpc>
              <a:spcBef>
                <a:spcPts val="0"/>
              </a:spcBef>
              <a:defRPr spc="-58" sz="2905">
                <a:latin typeface="Helvetica Neue Medium"/>
                <a:ea typeface="Helvetica Neue Medium"/>
                <a:cs typeface="Helvetica Neue Medium"/>
                <a:sym typeface="Helvetica Neue Medium"/>
              </a:defRPr>
            </a:pP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181 unresolved tickets (resolved_at is NULL), which appears to be expected for open support cases.</a:t>
            </a:r>
          </a:p>
          <a:p>
            <a:pPr defTabSz="2023821">
              <a:lnSpc>
                <a:spcPct val="80000"/>
              </a:lnSpc>
              <a:spcBef>
                <a:spcPts val="0"/>
              </a:spcBef>
              <a:defRPr spc="-58" sz="2905">
                <a:latin typeface="Helvetica Neue Medium"/>
                <a:ea typeface="Helvetica Neue Medium"/>
                <a:cs typeface="Helvetica Neue Medium"/>
                <a:sym typeface="Helvetica Neue Medium"/>
              </a:defRPr>
            </a:pP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All resolved tickets have a valid lifecycle (created_at &lt; resolved_at), indicating consistent timestamp integrity.</a:t>
            </a:r>
          </a:p>
          <a:p>
            <a:pPr defTabSz="2023821">
              <a:lnSpc>
                <a:spcPct val="80000"/>
              </a:lnSpc>
              <a:spcBef>
                <a:spcPts val="0"/>
              </a:spcBef>
              <a:defRPr spc="-74" sz="3734">
                <a:latin typeface="Helvetica Neue Medium"/>
                <a:ea typeface="Helvetica Neue Medium"/>
                <a:cs typeface="Helvetica Neue Medium"/>
                <a:sym typeface="Helvetica Neue Medium"/>
              </a:defRPr>
            </a:pPr>
          </a:p>
          <a:p>
            <a:pPr defTabSz="2023821">
              <a:lnSpc>
                <a:spcPct val="80000"/>
              </a:lnSpc>
              <a:spcBef>
                <a:spcPts val="0"/>
              </a:spcBef>
              <a:defRPr spc="-74" sz="3734" u="sng">
                <a:latin typeface="Helvetica Neue Medium"/>
                <a:ea typeface="Helvetica Neue Medium"/>
                <a:cs typeface="Helvetica Neue Medium"/>
                <a:sym typeface="Helvetica Neue Medium"/>
              </a:defRPr>
            </a:pPr>
            <a:r>
              <a:t>Implementation:</a:t>
            </a: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Introduced derive column is_unresolved_flag to explicitly identify open vs. closed support tickets.</a:t>
            </a:r>
          </a:p>
          <a:p>
            <a:pPr marL="368934"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Created resolution_hours column(resolved_at - created_at) to measure support performance and enable SLA reporting.</a:t>
            </a: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rPr b="1" i="1">
                <a:solidFill>
                  <a:schemeClr val="accent5">
                    <a:hueOff val="-82419"/>
                    <a:satOff val="-9513"/>
                    <a:lumOff val="-16343"/>
                  </a:schemeClr>
                </a:solidFill>
                <a:latin typeface="+mn-lt"/>
                <a:ea typeface="+mn-ea"/>
                <a:cs typeface="+mn-cs"/>
                <a:sym typeface="Helvetica Neue"/>
              </a:rPr>
              <a:t>**signal detected : 2 and 3** </a:t>
            </a:r>
            <a:r>
              <a:t>There are 2 category i.e. complaint and technical_fault could be potential signal for churn.</a:t>
            </a: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lvl="2" indent="758951" defTabSz="2023821">
              <a:lnSpc>
                <a:spcPct val="80000"/>
              </a:lnSpc>
              <a:spcBef>
                <a:spcPts val="0"/>
              </a:spcBef>
              <a:defRPr spc="-74" sz="3734">
                <a:latin typeface="Helvetica Neue Medium"/>
                <a:ea typeface="Helvetica Neue Medium"/>
                <a:cs typeface="Helvetica Neue Medium"/>
                <a:sym typeface="Helvetica Neue Medium"/>
              </a:defRPr>
            </a:pP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defTabSz="2023821">
              <a:lnSpc>
                <a:spcPct val="80000"/>
              </a:lnSpc>
              <a:spcBef>
                <a:spcPts val="0"/>
              </a:spcBef>
              <a:defRPr spc="-74" sz="3734">
                <a:latin typeface="Helvetica Neue Medium"/>
                <a:ea typeface="Helvetica Neue Medium"/>
                <a:cs typeface="Helvetica Neue Medium"/>
                <a:sym typeface="Helvetica Neue Medium"/>
              </a:defRPr>
            </a:pPr>
          </a:p>
        </p:txBody>
      </p:sp>
      <p:pic>
        <p:nvPicPr>
          <p:cNvPr id="195" name="pasted-movie.png" descr="pasted-movie.png"/>
          <p:cNvPicPr>
            <a:picLocks noChangeAspect="1"/>
          </p:cNvPicPr>
          <p:nvPr/>
        </p:nvPicPr>
        <p:blipFill>
          <a:blip r:embed="rId2">
            <a:extLst/>
          </a:blip>
          <a:stretch>
            <a:fillRect/>
          </a:stretch>
        </p:blipFill>
        <p:spPr>
          <a:xfrm>
            <a:off x="1096518" y="2437879"/>
            <a:ext cx="16015857" cy="2839800"/>
          </a:xfrm>
          <a:prstGeom prst="rect">
            <a:avLst/>
          </a:prstGeom>
          <a:ln w="12700">
            <a:miter lim="400000"/>
          </a:ln>
        </p:spPr>
      </p:pic>
      <p:sp>
        <p:nvSpPr>
          <p:cNvPr id="196" name="4. Support Contacts Data(TB_SUPPORT_CONTACTS)"/>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a:lvl1pPr>
          </a:lstStyle>
          <a:p>
            <a:pPr/>
            <a:r>
              <a:t>4. Support Contacts Data(TB_SUPPORT_CONTACTS)</a:t>
            </a:r>
          </a:p>
        </p:txBody>
      </p:sp>
      <p:sp>
        <p:nvSpPr>
          <p:cNvPr id="197" name="Part A.2 : Data Quality Checks"/>
          <p:cNvSpPr txBox="1"/>
          <p:nvPr>
            <p:ph type="title"/>
          </p:nvPr>
        </p:nvSpPr>
        <p:spPr>
          <a:xfrm>
            <a:off x="4331847" y="-289193"/>
            <a:ext cx="15720306" cy="1998998"/>
          </a:xfrm>
          <a:prstGeom prst="rect">
            <a:avLst/>
          </a:prstGeom>
        </p:spPr>
        <p:txBody>
          <a:bodyPr/>
          <a:lstStyle>
            <a:lvl1pPr>
              <a:defRPr spc="-138" sz="6900"/>
            </a:lvl1pPr>
          </a:lstStyle>
          <a:p>
            <a:pPr/>
            <a:r>
              <a:t>Part A.2 : Data Quality Checks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Data quality issues detected.…"/>
          <p:cNvSpPr txBox="1"/>
          <p:nvPr/>
        </p:nvSpPr>
        <p:spPr>
          <a:xfrm>
            <a:off x="1096518" y="2437879"/>
            <a:ext cx="23435349" cy="105828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1731220">
              <a:lnSpc>
                <a:spcPct val="80000"/>
              </a:lnSpc>
              <a:spcBef>
                <a:spcPts val="0"/>
              </a:spcBef>
              <a:defRPr i="1" spc="-63" sz="3195">
                <a:solidFill>
                  <a:schemeClr val="accent5">
                    <a:hueOff val="-82419"/>
                    <a:satOff val="-9513"/>
                    <a:lumOff val="-16343"/>
                  </a:schemeClr>
                </a:solidFill>
              </a:defRPr>
            </a:pPr>
            <a:r>
              <a:t>Data quality issues detected.</a:t>
            </a:r>
          </a:p>
          <a:p>
            <a:pPr defTabSz="1731220">
              <a:lnSpc>
                <a:spcPct val="80000"/>
              </a:lnSpc>
              <a:spcBef>
                <a:spcPts val="0"/>
              </a:spcBef>
              <a:defRPr spc="-63" sz="3195">
                <a:solidFill>
                  <a:schemeClr val="accent3"/>
                </a:solidFill>
                <a:latin typeface="Helvetica Neue Medium"/>
                <a:ea typeface="Helvetica Neue Medium"/>
                <a:cs typeface="Helvetica Neue Medium"/>
                <a:sym typeface="Helvetica Neue Medium"/>
              </a:defRPr>
            </a:pPr>
          </a:p>
          <a:p>
            <a:pPr defTabSz="1731220">
              <a:lnSpc>
                <a:spcPct val="80000"/>
              </a:lnSpc>
              <a:spcBef>
                <a:spcPts val="0"/>
              </a:spcBef>
              <a:defRPr spc="-63" sz="3195" u="sng">
                <a:latin typeface="Helvetica Neue Medium"/>
                <a:ea typeface="Helvetica Neue Medium"/>
                <a:cs typeface="Helvetica Neue Medium"/>
                <a:sym typeface="Helvetica Neue Medium"/>
              </a:defRPr>
            </a:pPr>
            <a:r>
              <a:t>Observations: </a:t>
            </a:r>
          </a:p>
          <a:p>
            <a:pPr lvl="1" marL="838580" indent="-40576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t>Event data is structurally sound, with no duplicate event IDs, null event IDs, or invalid event timestamps.</a:t>
            </a:r>
          </a:p>
          <a:p>
            <a:pPr defTabSz="1731220">
              <a:lnSpc>
                <a:spcPct val="80000"/>
              </a:lnSpc>
              <a:spcBef>
                <a:spcPts val="0"/>
              </a:spcBef>
              <a:defRPr spc="-49" sz="2484">
                <a:latin typeface="Helvetica Neue Medium"/>
                <a:ea typeface="Helvetica Neue Medium"/>
                <a:cs typeface="Helvetica Neue Medium"/>
                <a:sym typeface="Helvetica Neue Medium"/>
              </a:defRPr>
            </a:pPr>
          </a:p>
          <a:p>
            <a:pPr lvl="1" marL="748410" indent="-31559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t>34% of records (1,640 / 4,810) have a NULL customer_id, indicating incomplete customer linkage (potential late-arriving or orphaned events).</a:t>
            </a:r>
          </a:p>
          <a:p>
            <a:pPr defTabSz="1731220">
              <a:lnSpc>
                <a:spcPct val="80000"/>
              </a:lnSpc>
              <a:spcBef>
                <a:spcPts val="0"/>
              </a:spcBef>
              <a:defRPr spc="-49" sz="2484">
                <a:latin typeface="Helvetica Neue Medium"/>
                <a:ea typeface="Helvetica Neue Medium"/>
                <a:cs typeface="Helvetica Neue Medium"/>
                <a:sym typeface="Helvetica Neue Medium"/>
              </a:defRPr>
            </a:pPr>
          </a:p>
          <a:p>
            <a:pPr lvl="1" marL="748410" indent="-31559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t>All Customer_ID is in decimal format e.g. 501.0 | Required cleaning</a:t>
            </a:r>
          </a:p>
          <a:p>
            <a:pPr defTabSz="1731220">
              <a:lnSpc>
                <a:spcPct val="80000"/>
              </a:lnSpc>
              <a:spcBef>
                <a:spcPts val="0"/>
              </a:spcBef>
              <a:defRPr spc="-49" sz="2484">
                <a:latin typeface="Helvetica Neue Medium"/>
                <a:ea typeface="Helvetica Neue Medium"/>
                <a:cs typeface="Helvetica Neue Medium"/>
                <a:sym typeface="Helvetica Neue Medium"/>
              </a:defRPr>
            </a:pPr>
          </a:p>
          <a:p>
            <a:pPr lvl="1" marL="748410" indent="-31559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rPr b="1" i="1">
                <a:solidFill>
                  <a:schemeClr val="accent5">
                    <a:hueOff val="-82419"/>
                    <a:satOff val="-9513"/>
                    <a:lumOff val="-16343"/>
                  </a:schemeClr>
                </a:solidFill>
                <a:latin typeface="+mn-lt"/>
                <a:ea typeface="+mn-ea"/>
                <a:cs typeface="+mn-cs"/>
                <a:sym typeface="Helvetica Neue"/>
              </a:rPr>
              <a:t>**signal detected : 4** </a:t>
            </a:r>
            <a:r>
              <a:t>Portal activity includes 277 “support_ticket_open” event_type, which could serve as a potential leading indicator for customer dissatisfaction and churn.</a:t>
            </a:r>
          </a:p>
          <a:p>
            <a:pPr lvl="3" indent="973836" defTabSz="1731220">
              <a:lnSpc>
                <a:spcPct val="80000"/>
              </a:lnSpc>
              <a:spcBef>
                <a:spcPts val="0"/>
              </a:spcBef>
              <a:defRPr spc="-49" sz="2484">
                <a:latin typeface="Helvetica Neue Medium"/>
                <a:ea typeface="Helvetica Neue Medium"/>
                <a:cs typeface="Helvetica Neue Medium"/>
                <a:sym typeface="Helvetica Neue Medium"/>
              </a:defRPr>
            </a:pPr>
          </a:p>
          <a:p>
            <a:pPr defTabSz="1731220">
              <a:lnSpc>
                <a:spcPct val="80000"/>
              </a:lnSpc>
              <a:spcBef>
                <a:spcPts val="0"/>
              </a:spcBef>
              <a:defRPr spc="-63" sz="3195">
                <a:latin typeface="Helvetica Neue Medium"/>
                <a:ea typeface="Helvetica Neue Medium"/>
                <a:cs typeface="Helvetica Neue Medium"/>
                <a:sym typeface="Helvetica Neue Medium"/>
              </a:defRPr>
            </a:pPr>
          </a:p>
          <a:p>
            <a:pPr defTabSz="1731220">
              <a:lnSpc>
                <a:spcPct val="80000"/>
              </a:lnSpc>
              <a:spcBef>
                <a:spcPts val="0"/>
              </a:spcBef>
              <a:defRPr spc="-63" sz="3195" u="sng">
                <a:latin typeface="Helvetica Neue Medium"/>
                <a:ea typeface="Helvetica Neue Medium"/>
                <a:cs typeface="Helvetica Neue Medium"/>
                <a:sym typeface="Helvetica Neue Medium"/>
              </a:defRPr>
            </a:pPr>
            <a:r>
              <a:t>Implementation:</a:t>
            </a:r>
          </a:p>
          <a:p>
            <a:pPr lvl="1" marL="748410" indent="-31559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t>Created is_customer_linked_flag to identify events with missing customer_id until source data is backfilled. Business input required rather than removing the rows silently.</a:t>
            </a:r>
          </a:p>
          <a:p>
            <a:pPr defTabSz="1731220">
              <a:lnSpc>
                <a:spcPct val="80000"/>
              </a:lnSpc>
              <a:spcBef>
                <a:spcPts val="0"/>
              </a:spcBef>
              <a:defRPr spc="-49" sz="2484">
                <a:latin typeface="Helvetica Neue Medium"/>
                <a:ea typeface="Helvetica Neue Medium"/>
                <a:cs typeface="Helvetica Neue Medium"/>
                <a:sym typeface="Helvetica Neue Medium"/>
              </a:defRPr>
            </a:pPr>
          </a:p>
          <a:p>
            <a:pPr lvl="1" marL="748410" indent="-31559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t>Standardize customer_id by converting decimal values to the integer format during the dbt staging layer.</a:t>
            </a:r>
          </a:p>
          <a:p>
            <a:pPr defTabSz="1731220">
              <a:lnSpc>
                <a:spcPct val="80000"/>
              </a:lnSpc>
              <a:spcBef>
                <a:spcPts val="0"/>
              </a:spcBef>
              <a:defRPr spc="-49" sz="2484">
                <a:latin typeface="Helvetica Neue Medium"/>
                <a:ea typeface="Helvetica Neue Medium"/>
                <a:cs typeface="Helvetica Neue Medium"/>
                <a:sym typeface="Helvetica Neue Medium"/>
              </a:defRPr>
            </a:pPr>
          </a:p>
          <a:p>
            <a:pPr lvl="1" marL="748410" indent="-31559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r>
              <a:t>Further investigate whether support_ticket_open events correlate with increased churn risk and incorporate them into the churn prediction model if validated.</a:t>
            </a:r>
          </a:p>
          <a:p>
            <a:pPr lvl="2" indent="649223" defTabSz="1731220">
              <a:lnSpc>
                <a:spcPct val="80000"/>
              </a:lnSpc>
              <a:spcBef>
                <a:spcPts val="0"/>
              </a:spcBef>
              <a:defRPr spc="-63" sz="3195">
                <a:latin typeface="Helvetica Neue Medium"/>
                <a:ea typeface="Helvetica Neue Medium"/>
                <a:cs typeface="Helvetica Neue Medium"/>
                <a:sym typeface="Helvetica Neue Medium"/>
              </a:defRPr>
            </a:pPr>
          </a:p>
          <a:p>
            <a:pPr lvl="1" marL="838580" indent="-405764" defTabSz="1731220">
              <a:lnSpc>
                <a:spcPct val="80000"/>
              </a:lnSpc>
              <a:spcBef>
                <a:spcPts val="0"/>
              </a:spcBef>
              <a:buSzPct val="123000"/>
              <a:buChar char="•"/>
              <a:defRPr spc="-49" sz="2484">
                <a:latin typeface="Helvetica Neue Medium"/>
                <a:ea typeface="Helvetica Neue Medium"/>
                <a:cs typeface="Helvetica Neue Medium"/>
                <a:sym typeface="Helvetica Neue Medium"/>
              </a:defRPr>
            </a:pPr>
          </a:p>
          <a:p>
            <a:pPr defTabSz="1731220">
              <a:lnSpc>
                <a:spcPct val="80000"/>
              </a:lnSpc>
              <a:spcBef>
                <a:spcPts val="0"/>
              </a:spcBef>
              <a:defRPr spc="-63" sz="3195">
                <a:latin typeface="Helvetica Neue Medium"/>
                <a:ea typeface="Helvetica Neue Medium"/>
                <a:cs typeface="Helvetica Neue Medium"/>
                <a:sym typeface="Helvetica Neue Medium"/>
              </a:defRPr>
            </a:pPr>
          </a:p>
        </p:txBody>
      </p:sp>
      <p:pic>
        <p:nvPicPr>
          <p:cNvPr id="200" name="pasted-movie.png" descr="pasted-movie.png"/>
          <p:cNvPicPr>
            <a:picLocks noChangeAspect="1"/>
          </p:cNvPicPr>
          <p:nvPr/>
        </p:nvPicPr>
        <p:blipFill>
          <a:blip r:embed="rId2">
            <a:extLst/>
          </a:blip>
          <a:stretch>
            <a:fillRect/>
          </a:stretch>
        </p:blipFill>
        <p:spPr>
          <a:xfrm>
            <a:off x="1096518" y="2437879"/>
            <a:ext cx="12018317" cy="2467946"/>
          </a:xfrm>
          <a:prstGeom prst="rect">
            <a:avLst/>
          </a:prstGeom>
          <a:ln w="12700">
            <a:miter lim="400000"/>
          </a:ln>
        </p:spPr>
      </p:pic>
      <p:sp>
        <p:nvSpPr>
          <p:cNvPr id="201" name="5. Portal Events Data(TB_PORTAL_EVENTS)"/>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a:lvl1pPr>
          </a:lstStyle>
          <a:p>
            <a:pPr/>
            <a:r>
              <a:t>5. Portal Events Data(TB_PORTAL_EVENTS)</a:t>
            </a:r>
          </a:p>
        </p:txBody>
      </p:sp>
      <p:sp>
        <p:nvSpPr>
          <p:cNvPr id="202" name="Part A.2 : Data Quality Checks"/>
          <p:cNvSpPr txBox="1"/>
          <p:nvPr>
            <p:ph type="title"/>
          </p:nvPr>
        </p:nvSpPr>
        <p:spPr>
          <a:xfrm>
            <a:off x="4331847" y="-289193"/>
            <a:ext cx="15720306" cy="1998998"/>
          </a:xfrm>
          <a:prstGeom prst="rect">
            <a:avLst/>
          </a:prstGeom>
        </p:spPr>
        <p:txBody>
          <a:bodyPr/>
          <a:lstStyle>
            <a:lvl1pPr>
              <a:defRPr spc="-138" sz="6900"/>
            </a:lvl1pPr>
          </a:lstStyle>
          <a:p>
            <a:pPr/>
            <a:r>
              <a:t>Part A.2 : Data Quality Checks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No Data quality issues detected.…"/>
          <p:cNvSpPr txBox="1"/>
          <p:nvPr/>
        </p:nvSpPr>
        <p:spPr>
          <a:xfrm>
            <a:off x="1096518" y="2437879"/>
            <a:ext cx="23435349" cy="1058284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023821">
              <a:lnSpc>
                <a:spcPct val="80000"/>
              </a:lnSpc>
              <a:spcBef>
                <a:spcPts val="0"/>
              </a:spcBef>
              <a:defRPr i="1" spc="-74" sz="3734">
                <a:solidFill>
                  <a:schemeClr val="accent3">
                    <a:hueOff val="362282"/>
                    <a:satOff val="31803"/>
                    <a:lumOff val="-18242"/>
                  </a:schemeClr>
                </a:solidFill>
              </a:defRPr>
            </a:pPr>
            <a:r>
              <a:t>No Data quality issues detected.</a:t>
            </a:r>
          </a:p>
          <a:p>
            <a:pPr defTabSz="2023821">
              <a:lnSpc>
                <a:spcPct val="80000"/>
              </a:lnSpc>
              <a:spcBef>
                <a:spcPts val="0"/>
              </a:spcBef>
              <a:defRPr spc="-74" sz="3734">
                <a:solidFill>
                  <a:schemeClr val="accent3"/>
                </a:solidFill>
                <a:latin typeface="Helvetica Neue Medium"/>
                <a:ea typeface="Helvetica Neue Medium"/>
                <a:cs typeface="Helvetica Neue Medium"/>
                <a:sym typeface="Helvetica Neue Medium"/>
              </a:defRPr>
            </a:pPr>
          </a:p>
          <a:p>
            <a:pPr defTabSz="2023821">
              <a:lnSpc>
                <a:spcPct val="80000"/>
              </a:lnSpc>
              <a:spcBef>
                <a:spcPts val="0"/>
              </a:spcBef>
              <a:defRPr spc="-74" sz="3734" u="sng">
                <a:latin typeface="Helvetica Neue Medium"/>
                <a:ea typeface="Helvetica Neue Medium"/>
                <a:cs typeface="Helvetica Neue Medium"/>
                <a:sym typeface="Helvetica Neue Medium"/>
              </a:defRPr>
            </a:pPr>
            <a:r>
              <a:t>Observations: </a:t>
            </a: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Usage daily data passed all quality checks with no duplicate records, null subscription IDs, invalid dates, or negative/null usage metrics.</a:t>
            </a:r>
          </a:p>
          <a:p>
            <a:pPr defTabSz="2023821">
              <a:lnSpc>
                <a:spcPct val="80000"/>
              </a:lnSpc>
              <a:spcBef>
                <a:spcPts val="0"/>
              </a:spcBef>
              <a:defRPr spc="-58" sz="2905">
                <a:latin typeface="Helvetica Neue Medium"/>
                <a:ea typeface="Helvetica Neue Medium"/>
                <a:cs typeface="Helvetica Neue Medium"/>
                <a:sym typeface="Helvetica Neue Medium"/>
              </a:defRPr>
            </a:pP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The (subscription_id, usage_date) combination is unique, making it a reliable business key for daily usage analysis.</a:t>
            </a:r>
          </a:p>
          <a:p>
            <a:pPr defTabSz="2023821">
              <a:lnSpc>
                <a:spcPct val="80000"/>
              </a:lnSpc>
              <a:spcBef>
                <a:spcPts val="0"/>
              </a:spcBef>
              <a:defRPr spc="-58" sz="2905">
                <a:latin typeface="Helvetica Neue Medium"/>
                <a:ea typeface="Helvetica Neue Medium"/>
                <a:cs typeface="Helvetica Neue Medium"/>
                <a:sym typeface="Helvetica Neue Medium"/>
              </a:defRPr>
            </a:pP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rPr b="1" i="1">
                <a:solidFill>
                  <a:schemeClr val="accent5">
                    <a:hueOff val="-82419"/>
                    <a:satOff val="-9513"/>
                    <a:lumOff val="-16343"/>
                  </a:schemeClr>
                </a:solidFill>
                <a:latin typeface="+mn-lt"/>
                <a:ea typeface="+mn-ea"/>
                <a:cs typeface="+mn-cs"/>
                <a:sym typeface="Helvetica Neue"/>
              </a:rPr>
              <a:t>**signal detected : 5** </a:t>
            </a:r>
            <a:r>
              <a:t>Daily usage metrics (call_count, call_minutes, concurrent_peak) are potential candidate for behavioural trend analysis.</a:t>
            </a: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lvl="3" indent="1138427" defTabSz="2023821">
              <a:lnSpc>
                <a:spcPct val="80000"/>
              </a:lnSpc>
              <a:spcBef>
                <a:spcPts val="0"/>
              </a:spcBef>
              <a:defRPr spc="-58" sz="2905">
                <a:latin typeface="Helvetica Neue Medium"/>
                <a:ea typeface="Helvetica Neue Medium"/>
                <a:cs typeface="Helvetica Neue Medium"/>
                <a:sym typeface="Helvetica Neue Medium"/>
              </a:defRPr>
            </a:pPr>
          </a:p>
          <a:p>
            <a:pPr defTabSz="2023821">
              <a:lnSpc>
                <a:spcPct val="80000"/>
              </a:lnSpc>
              <a:spcBef>
                <a:spcPts val="0"/>
              </a:spcBef>
              <a:defRPr spc="-74" sz="3734">
                <a:latin typeface="Helvetica Neue Medium"/>
                <a:ea typeface="Helvetica Neue Medium"/>
                <a:cs typeface="Helvetica Neue Medium"/>
                <a:sym typeface="Helvetica Neue Medium"/>
              </a:defRPr>
            </a:pPr>
          </a:p>
          <a:p>
            <a:pPr defTabSz="2023821">
              <a:lnSpc>
                <a:spcPct val="80000"/>
              </a:lnSpc>
              <a:spcBef>
                <a:spcPts val="0"/>
              </a:spcBef>
              <a:defRPr spc="-74" sz="3734" u="sng">
                <a:latin typeface="Helvetica Neue Medium"/>
                <a:ea typeface="Helvetica Neue Medium"/>
                <a:cs typeface="Helvetica Neue Medium"/>
                <a:sym typeface="Helvetica Neue Medium"/>
              </a:defRPr>
            </a:pPr>
            <a:r>
              <a:t>Implementation:</a:t>
            </a: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Created 1-1 mapping staging table. </a:t>
            </a:r>
          </a:p>
          <a:p>
            <a:pPr defTabSz="2023821">
              <a:lnSpc>
                <a:spcPct val="80000"/>
              </a:lnSpc>
              <a:spcBef>
                <a:spcPts val="0"/>
              </a:spcBef>
              <a:defRPr spc="-58" sz="2905">
                <a:latin typeface="Helvetica Neue Medium"/>
                <a:ea typeface="Helvetica Neue Medium"/>
                <a:cs typeface="Helvetica Neue Medium"/>
                <a:sym typeface="Helvetica Neue Medium"/>
              </a:defRPr>
            </a:pP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rPr b="1" i="1">
                <a:solidFill>
                  <a:schemeClr val="accent5">
                    <a:hueOff val="-82419"/>
                    <a:satOff val="-9513"/>
                    <a:lumOff val="-16343"/>
                  </a:schemeClr>
                </a:solidFill>
                <a:latin typeface="+mn-lt"/>
                <a:ea typeface="+mn-ea"/>
                <a:cs typeface="+mn-cs"/>
                <a:sym typeface="Helvetica Neue"/>
              </a:rPr>
              <a:t>**signal detected : 6** </a:t>
            </a:r>
            <a:r>
              <a:t>Investigate the business meaning of concurrent_peak and evaluate whether it can serve as a leading indicator of customer engagement or churn risk.</a:t>
            </a: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r>
              <a:t>Derive additional behavioural features (e.g., average daily calls, monthly call minutes, usage trend) for churn analytics and dashboarding.</a:t>
            </a:r>
          </a:p>
          <a:p>
            <a:pPr lvl="1" marL="874902" indent="-36893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lvl="2" indent="758951" defTabSz="2023821">
              <a:lnSpc>
                <a:spcPct val="80000"/>
              </a:lnSpc>
              <a:spcBef>
                <a:spcPts val="0"/>
              </a:spcBef>
              <a:defRPr spc="-74" sz="3734">
                <a:latin typeface="Helvetica Neue Medium"/>
                <a:ea typeface="Helvetica Neue Medium"/>
                <a:cs typeface="Helvetica Neue Medium"/>
                <a:sym typeface="Helvetica Neue Medium"/>
              </a:defRPr>
            </a:pPr>
          </a:p>
          <a:p>
            <a:pPr lvl="1" marL="980312" indent="-474344" defTabSz="2023821">
              <a:lnSpc>
                <a:spcPct val="80000"/>
              </a:lnSpc>
              <a:spcBef>
                <a:spcPts val="0"/>
              </a:spcBef>
              <a:buSzPct val="123000"/>
              <a:buChar char="•"/>
              <a:defRPr spc="-58" sz="2905">
                <a:latin typeface="Helvetica Neue Medium"/>
                <a:ea typeface="Helvetica Neue Medium"/>
                <a:cs typeface="Helvetica Neue Medium"/>
                <a:sym typeface="Helvetica Neue Medium"/>
              </a:defRPr>
            </a:pPr>
          </a:p>
          <a:p>
            <a:pPr defTabSz="2023821">
              <a:lnSpc>
                <a:spcPct val="80000"/>
              </a:lnSpc>
              <a:spcBef>
                <a:spcPts val="0"/>
              </a:spcBef>
              <a:defRPr spc="-74" sz="3734">
                <a:latin typeface="Helvetica Neue Medium"/>
                <a:ea typeface="Helvetica Neue Medium"/>
                <a:cs typeface="Helvetica Neue Medium"/>
                <a:sym typeface="Helvetica Neue Medium"/>
              </a:defRPr>
            </a:pPr>
          </a:p>
        </p:txBody>
      </p:sp>
      <p:sp>
        <p:nvSpPr>
          <p:cNvPr id="205" name="6. Usage Daily Data(TB_USAGE_DAILY)"/>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a:lvl1pPr>
          </a:lstStyle>
          <a:p>
            <a:pPr/>
            <a:r>
              <a:t>6. Usage Daily Data(TB_USAGE_DAILY)</a:t>
            </a:r>
          </a:p>
        </p:txBody>
      </p:sp>
      <p:sp>
        <p:nvSpPr>
          <p:cNvPr id="206" name="Part A.2 : Data Quality Checks"/>
          <p:cNvSpPr txBox="1"/>
          <p:nvPr>
            <p:ph type="title"/>
          </p:nvPr>
        </p:nvSpPr>
        <p:spPr>
          <a:xfrm>
            <a:off x="4331847" y="-289193"/>
            <a:ext cx="15720306" cy="1998998"/>
          </a:xfrm>
          <a:prstGeom prst="rect">
            <a:avLst/>
          </a:prstGeom>
        </p:spPr>
        <p:txBody>
          <a:bodyPr/>
          <a:lstStyle>
            <a:lvl1pPr>
              <a:defRPr spc="-138" sz="6900"/>
            </a:lvl1pPr>
          </a:lstStyle>
          <a:p>
            <a:pPr/>
            <a:r>
              <a:t>Part A.2 : Data Quality Checks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Part A.3 - subscription’s lifecycle state"/>
          <p:cNvSpPr txBox="1"/>
          <p:nvPr>
            <p:ph type="title"/>
          </p:nvPr>
        </p:nvSpPr>
        <p:spPr>
          <a:xfrm>
            <a:off x="4764235" y="-52167"/>
            <a:ext cx="14127673" cy="1998997"/>
          </a:xfrm>
          <a:prstGeom prst="rect">
            <a:avLst/>
          </a:prstGeom>
        </p:spPr>
        <p:txBody>
          <a:bodyPr/>
          <a:lstStyle/>
          <a:p>
            <a:pPr defTabSz="2292038">
              <a:defRPr spc="-129" sz="6486"/>
            </a:pPr>
            <a:r>
              <a:rPr b="1">
                <a:latin typeface="+mn-lt"/>
                <a:ea typeface="+mn-ea"/>
                <a:cs typeface="+mn-cs"/>
                <a:sym typeface="Helvetica Neue"/>
              </a:rPr>
              <a:t>Part A.3</a:t>
            </a:r>
            <a:r>
              <a:t> - subscription’s lifecycle state </a:t>
            </a:r>
          </a:p>
        </p:txBody>
      </p:sp>
      <p:sp>
        <p:nvSpPr>
          <p:cNvPr id="209" name="The problem:…"/>
          <p:cNvSpPr txBox="1"/>
          <p:nvPr/>
        </p:nvSpPr>
        <p:spPr>
          <a:xfrm>
            <a:off x="761987" y="877521"/>
            <a:ext cx="24104410" cy="239264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nSpc>
                <a:spcPct val="80000"/>
              </a:lnSpc>
              <a:spcBef>
                <a:spcPts val="0"/>
              </a:spcBef>
              <a:defRPr spc="-70" sz="3500">
                <a:latin typeface="Helvetica Neue Medium"/>
                <a:ea typeface="Helvetica Neue Medium"/>
                <a:cs typeface="Helvetica Neue Medium"/>
                <a:sym typeface="Helvetica Neue Medium"/>
              </a:defRPr>
            </a:pPr>
            <a:r>
              <a:rPr b="1" u="sng">
                <a:latin typeface="+mn-lt"/>
                <a:ea typeface="+mn-ea"/>
                <a:cs typeface="+mn-cs"/>
                <a:sym typeface="Helvetica Neue"/>
              </a:rPr>
              <a:t>The problem: </a:t>
            </a:r>
            <a:endParaRPr b="1" u="sng">
              <a:latin typeface="+mn-lt"/>
              <a:ea typeface="+mn-ea"/>
              <a:cs typeface="+mn-cs"/>
              <a:sym typeface="Helvetica Neue"/>
            </a:endParaRPr>
          </a:p>
          <a:p>
            <a:pPr>
              <a:lnSpc>
                <a:spcPct val="80000"/>
              </a:lnSpc>
              <a:spcBef>
                <a:spcPts val="0"/>
              </a:spcBef>
              <a:defRPr spc="-70" sz="3500">
                <a:latin typeface="Helvetica Neue Medium"/>
                <a:ea typeface="Helvetica Neue Medium"/>
                <a:cs typeface="Helvetica Neue Medium"/>
                <a:sym typeface="Helvetica Neue Medium"/>
              </a:defRPr>
            </a:pPr>
            <a:r>
              <a:t>Raw status (active/cancelled/doa/fraud) doesn't tell the full story — a cancelled subscription could be a genuine loss, or a customer who came back later.</a:t>
            </a:r>
          </a:p>
          <a:p>
            <a:pPr>
              <a:lnSpc>
                <a:spcPct val="80000"/>
              </a:lnSpc>
              <a:spcBef>
                <a:spcPts val="0"/>
              </a:spcBef>
              <a:defRPr spc="-70" sz="3500">
                <a:latin typeface="Helvetica Neue Medium"/>
                <a:ea typeface="Helvetica Neue Medium"/>
                <a:cs typeface="Helvetica Neue Medium"/>
                <a:sym typeface="Helvetica Neue Medium"/>
              </a:defRPr>
            </a:pPr>
          </a:p>
          <a:p>
            <a:pPr>
              <a:lnSpc>
                <a:spcPct val="80000"/>
              </a:lnSpc>
              <a:spcBef>
                <a:spcPts val="0"/>
              </a:spcBef>
              <a:defRPr spc="-70" sz="3500">
                <a:latin typeface="Helvetica Neue Medium"/>
                <a:ea typeface="Helvetica Neue Medium"/>
                <a:cs typeface="Helvetica Neue Medium"/>
                <a:sym typeface="Helvetica Neue Medium"/>
              </a:defRPr>
            </a:pPr>
            <a:r>
              <a:rPr b="1" u="sng">
                <a:latin typeface="+mn-lt"/>
                <a:ea typeface="+mn-ea"/>
                <a:cs typeface="+mn-cs"/>
                <a:sym typeface="Helvetica Neue"/>
              </a:rPr>
              <a:t>Solution : </a:t>
            </a:r>
            <a:r>
              <a:t>Created intermediate table </a:t>
            </a:r>
            <a:r>
              <a:rPr b="1">
                <a:latin typeface="+mn-lt"/>
                <a:ea typeface="+mn-ea"/>
                <a:cs typeface="+mn-cs"/>
                <a:sym typeface="Helvetica Neue"/>
              </a:rPr>
              <a:t>INT_SUBSCRIPTION_LIFECYCLE</a:t>
            </a:r>
            <a:r>
              <a:t> to map status using below rules. </a:t>
            </a:r>
          </a:p>
        </p:txBody>
      </p:sp>
      <p:sp>
        <p:nvSpPr>
          <p:cNvPr id="210" name="Key design decisions:…"/>
          <p:cNvSpPr txBox="1"/>
          <p:nvPr/>
        </p:nvSpPr>
        <p:spPr>
          <a:xfrm>
            <a:off x="746287" y="7585463"/>
            <a:ext cx="21692663" cy="67872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70" sz="3500" u="sng"/>
            </a:pPr>
            <a:r>
              <a:t>Key design decisions:</a:t>
            </a:r>
          </a:p>
          <a:p>
            <a:pPr>
              <a:lnSpc>
                <a:spcPct val="80000"/>
              </a:lnSpc>
              <a:spcBef>
                <a:spcPts val="0"/>
              </a:spcBef>
              <a:defRPr b="1" spc="-70" sz="3500" u="sng"/>
            </a:pPr>
          </a:p>
          <a:p>
            <a:pPr marL="4445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Partitioned by customer + product, not customer alone — a customer switching from broadband to mobile isn't "reactivation," it's cross-sell.</a:t>
            </a:r>
          </a:p>
          <a:p>
            <a:pPr>
              <a:lnSpc>
                <a:spcPct val="80000"/>
              </a:lnSpc>
              <a:spcBef>
                <a:spcPts val="0"/>
              </a:spcBef>
              <a:defRPr spc="-70" sz="3500">
                <a:latin typeface="Helvetica Neue Medium"/>
                <a:ea typeface="Helvetica Neue Medium"/>
                <a:cs typeface="Helvetica Neue Medium"/>
                <a:sym typeface="Helvetica Neue Medium"/>
              </a:defRPr>
            </a:pPr>
          </a:p>
          <a:p>
            <a:pPr marL="4445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Precedence is deliberate — fraud and DOA are checked first because they override every other state; a fraudulent signup can't also be counted as a “win-back."</a:t>
            </a:r>
          </a:p>
          <a:p>
            <a:pPr>
              <a:lnSpc>
                <a:spcPct val="80000"/>
              </a:lnSpc>
              <a:spcBef>
                <a:spcPts val="0"/>
              </a:spcBef>
              <a:defRPr spc="-70" sz="3500">
                <a:latin typeface="Helvetica Neue Medium"/>
                <a:ea typeface="Helvetica Neue Medium"/>
                <a:cs typeface="Helvetica Neue Medium"/>
                <a:sym typeface="Helvetica Neue Medium"/>
              </a:defRPr>
            </a:pPr>
          </a:p>
          <a:p>
            <a:pPr marL="4445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Built using LAG() window functions to compare each subscription against that customer's previous subscription of the same product — validated against real cases in the data (e.g. customer 501) before trusting the logic.</a:t>
            </a:r>
          </a:p>
          <a:p>
            <a:pPr>
              <a:lnSpc>
                <a:spcPct val="80000"/>
              </a:lnSpc>
              <a:spcBef>
                <a:spcPts val="0"/>
              </a:spcBef>
              <a:defRPr spc="-70" sz="3500">
                <a:latin typeface="Helvetica Neue Medium"/>
                <a:ea typeface="Helvetica Neue Medium"/>
                <a:cs typeface="Helvetica Neue Medium"/>
                <a:sym typeface="Helvetica Neue Medium"/>
              </a:defRPr>
            </a:pPr>
          </a:p>
          <a:p>
            <a:pPr marL="4445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LAG of status and cancelled_date to know previous status and cancelled_date, to know reactivation.</a:t>
            </a:r>
          </a:p>
          <a:p>
            <a:pPr>
              <a:lnSpc>
                <a:spcPct val="80000"/>
              </a:lnSpc>
              <a:spcBef>
                <a:spcPts val="0"/>
              </a:spcBef>
              <a:defRPr spc="-70" sz="3500">
                <a:latin typeface="Helvetica Neue Medium"/>
                <a:ea typeface="Helvetica Neue Medium"/>
                <a:cs typeface="Helvetica Neue Medium"/>
                <a:sym typeface="Helvetica Neue Medium"/>
              </a:defRPr>
            </a:pPr>
          </a:p>
        </p:txBody>
      </p:sp>
      <p:graphicFrame>
        <p:nvGraphicFramePr>
          <p:cNvPr id="211" name="Table 1"/>
          <p:cNvGraphicFramePr/>
          <p:nvPr/>
        </p:nvGraphicFramePr>
        <p:xfrm>
          <a:off x="2249834" y="3382320"/>
          <a:ext cx="19897032" cy="4110588"/>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6628110"/>
                <a:gridCol w="6628110"/>
                <a:gridCol w="6628110"/>
              </a:tblGrid>
              <a:tr h="682981">
                <a:tc>
                  <a:txBody>
                    <a:bodyPr/>
                    <a:lstStyle/>
                    <a:p>
                      <a:pPr defTabSz="914400">
                        <a:tabLst>
                          <a:tab pos="1663700" algn="l"/>
                        </a:tabLst>
                        <a:defRPr b="0"/>
                      </a:pPr>
                      <a:r>
                        <a:rPr b="1" sz="3200"/>
                        <a:t>Order</a:t>
                      </a:r>
                    </a:p>
                  </a:txBody>
                  <a:tcPr marL="50800" marR="50800" marT="50800" marB="50800" anchor="ctr" anchorCtr="0" horzOverflow="overflow"/>
                </a:tc>
                <a:tc>
                  <a:txBody>
                    <a:bodyPr/>
                    <a:lstStyle/>
                    <a:p>
                      <a:pPr defTabSz="914400">
                        <a:tabLst>
                          <a:tab pos="1663700" algn="l"/>
                        </a:tabLst>
                        <a:defRPr b="0"/>
                      </a:pPr>
                      <a:r>
                        <a:rPr b="1" sz="3200"/>
                        <a:t>Status</a:t>
                      </a:r>
                    </a:p>
                  </a:txBody>
                  <a:tcPr marL="50800" marR="50800" marT="50800" marB="50800" anchor="ctr" anchorCtr="0" horzOverflow="overflow"/>
                </a:tc>
                <a:tc>
                  <a:txBody>
                    <a:bodyPr/>
                    <a:lstStyle/>
                    <a:p>
                      <a:pPr defTabSz="914400">
                        <a:tabLst>
                          <a:tab pos="1663700" algn="l"/>
                        </a:tabLst>
                        <a:defRPr b="0"/>
                      </a:pPr>
                      <a:r>
                        <a:rPr b="1" sz="3200"/>
                        <a:t>Rule</a:t>
                      </a:r>
                    </a:p>
                  </a:txBody>
                  <a:tcPr marL="50800" marR="50800" marT="50800" marB="50800" anchor="ctr" anchorCtr="0" horzOverflow="overflow"/>
                </a:tc>
              </a:tr>
              <a:tr h="682981">
                <a:tc>
                  <a:txBody>
                    <a:bodyPr/>
                    <a:lstStyle/>
                    <a:p>
                      <a:pPr defTabSz="914400">
                        <a:tabLst>
                          <a:tab pos="1663700" algn="l"/>
                        </a:tabLst>
                        <a:defRPr b="0"/>
                      </a:pPr>
                      <a:r>
                        <a:rPr b="1" sz="3200"/>
                        <a:t>1
2</a:t>
                      </a:r>
                    </a:p>
                  </a:txBody>
                  <a:tcPr marL="50800" marR="50800" marT="50800" marB="50800" anchor="ctr" anchorCtr="0" horzOverflow="overflow"/>
                </a:tc>
                <a:tc>
                  <a:txBody>
                    <a:bodyPr/>
                    <a:lstStyle/>
                    <a:p>
                      <a:pPr algn="l" defTabSz="2438338">
                        <a:lnSpc>
                          <a:spcPct val="80000"/>
                        </a:lnSpc>
                        <a:defRPr spc="-70" sz="3500">
                          <a:latin typeface="Helvetica Neue Medium"/>
                          <a:ea typeface="Helvetica Neue Medium"/>
                          <a:cs typeface="Helvetica Neue Medium"/>
                          <a:sym typeface="Helvetica Neue Medium"/>
                        </a:defRPr>
                      </a:pPr>
                      <a:r>
                        <a:t>Fraud</a:t>
                      </a:r>
                    </a:p>
                  </a:txBody>
                  <a:tcPr marL="50800" marR="50800" marT="50800" marB="50800" anchor="ctr" anchorCtr="0" horzOverflow="overflow"/>
                </a:tc>
                <a:tc>
                  <a:txBody>
                    <a:bodyPr/>
                    <a:lstStyle/>
                    <a:p>
                      <a:pPr algn="l" defTabSz="2438338">
                        <a:lnSpc>
                          <a:spcPct val="80000"/>
                        </a:lnSpc>
                      </a:pPr>
                      <a:r>
                        <a:rPr spc="-42" sz="2100">
                          <a:latin typeface="Helvetica Neue Medium"/>
                          <a:ea typeface="Helvetica Neue Medium"/>
                          <a:cs typeface="Helvetica Neue Medium"/>
                          <a:sym typeface="Helvetica Neue Medium"/>
                        </a:rPr>
                        <a:t>status = fraud — always excluded from churn, it's a risk event not a retention one</a:t>
                      </a:r>
                    </a:p>
                  </a:txBody>
                  <a:tcPr marL="50800" marR="50800" marT="50800" marB="50800" anchor="ctr" anchorCtr="0" horzOverflow="overflow"/>
                </a:tc>
              </a:tr>
              <a:tr h="682981">
                <a:tc>
                  <a:txBody>
                    <a:bodyPr/>
                    <a:lstStyle/>
                    <a:p>
                      <a:pPr defTabSz="914400">
                        <a:tabLst>
                          <a:tab pos="1663700" algn="l"/>
                        </a:tabLst>
                        <a:defRPr b="0"/>
                      </a:pPr>
                      <a:r>
                        <a:rPr b="1" sz="3200"/>
                        <a:t>2</a:t>
                      </a:r>
                    </a:p>
                  </a:txBody>
                  <a:tcPr marL="50800" marR="50800" marT="50800" marB="50800" anchor="ctr" anchorCtr="0" horzOverflow="overflow"/>
                </a:tc>
                <a:tc>
                  <a:txBody>
                    <a:bodyPr/>
                    <a:lstStyle/>
                    <a:p>
                      <a:pPr algn="l" defTabSz="2438338">
                        <a:lnSpc>
                          <a:spcPct val="80000"/>
                        </a:lnSpc>
                      </a:pPr>
                      <a:r>
                        <a:rPr spc="-70" sz="3500">
                          <a:latin typeface="Helvetica Neue Medium"/>
                          <a:ea typeface="Helvetica Neue Medium"/>
                          <a:cs typeface="Helvetica Neue Medium"/>
                          <a:sym typeface="Helvetica Neue Medium"/>
                        </a:rPr>
                        <a:t>Cancelled-before-go-live</a:t>
                      </a:r>
                    </a:p>
                  </a:txBody>
                  <a:tcPr marL="50800" marR="50800" marT="50800" marB="50800" anchor="ctr" anchorCtr="0" horzOverflow="overflow"/>
                </a:tc>
                <a:tc>
                  <a:txBody>
                    <a:bodyPr/>
                    <a:lstStyle/>
                    <a:p>
                      <a:pPr algn="l" defTabSz="2438338">
                        <a:lnSpc>
                          <a:spcPct val="80000"/>
                        </a:lnSpc>
                      </a:pPr>
                      <a:r>
                        <a:rPr spc="-42" sz="2100">
                          <a:latin typeface="Helvetica Neue Medium"/>
                          <a:ea typeface="Helvetica Neue Medium"/>
                          <a:cs typeface="Helvetica Neue Medium"/>
                          <a:sym typeface="Helvetica Neue Medium"/>
                        </a:rPr>
                        <a:t>status = doa — never went live, no revenue lost</a:t>
                      </a:r>
                    </a:p>
                  </a:txBody>
                  <a:tcPr marL="50800" marR="50800" marT="50800" marB="50800" anchor="ctr" anchorCtr="0" horzOverflow="overflow"/>
                </a:tc>
              </a:tr>
              <a:tr h="682981">
                <a:tc>
                  <a:txBody>
                    <a:bodyPr/>
                    <a:lstStyle/>
                    <a:p>
                      <a:pPr defTabSz="914400">
                        <a:tabLst>
                          <a:tab pos="1663700" algn="l"/>
                        </a:tabLst>
                        <a:defRPr b="0"/>
                      </a:pPr>
                      <a:r>
                        <a:rPr b="1" sz="3200"/>
                        <a:t>3</a:t>
                      </a:r>
                    </a:p>
                  </a:txBody>
                  <a:tcPr marL="50800" marR="50800" marT="50800" marB="50800" anchor="ctr" anchorCtr="0" horzOverflow="overflow"/>
                </a:tc>
                <a:tc>
                  <a:txBody>
                    <a:bodyPr/>
                    <a:lstStyle/>
                    <a:p>
                      <a:pPr algn="l" defTabSz="2438338">
                        <a:lnSpc>
                          <a:spcPct val="80000"/>
                        </a:lnSpc>
                      </a:pPr>
                      <a:r>
                        <a:rPr spc="-70" sz="3500">
                          <a:latin typeface="Helvetica Neue Medium"/>
                          <a:ea typeface="Helvetica Neue Medium"/>
                          <a:cs typeface="Helvetica Neue Medium"/>
                          <a:sym typeface="Helvetica Neue Medium"/>
                        </a:rPr>
                        <a:t>Pending activation</a:t>
                      </a:r>
                    </a:p>
                  </a:txBody>
                  <a:tcPr marL="50800" marR="50800" marT="50800" marB="50800" anchor="ctr" anchorCtr="0" horzOverflow="overflow"/>
                </a:tc>
                <a:tc>
                  <a:txBody>
                    <a:bodyPr/>
                    <a:lstStyle/>
                    <a:p>
                      <a:pPr algn="l" defTabSz="2438338">
                        <a:lnSpc>
                          <a:spcPct val="80000"/>
                        </a:lnSpc>
                      </a:pPr>
                      <a:r>
                        <a:rPr spc="-42" sz="2100">
                          <a:latin typeface="Helvetica Neue Medium"/>
                          <a:ea typeface="Helvetica Neue Medium"/>
                          <a:cs typeface="Helvetica Neue Medium"/>
                          <a:sym typeface="Helvetica Neue Medium"/>
                        </a:rPr>
                        <a:t>active status but go-live date is still in the future</a:t>
                      </a:r>
                    </a:p>
                  </a:txBody>
                  <a:tcPr marL="50800" marR="50800" marT="50800" marB="50800" anchor="ctr" anchorCtr="0" horzOverflow="overflow"/>
                </a:tc>
              </a:tr>
              <a:tr h="682981">
                <a:tc>
                  <a:txBody>
                    <a:bodyPr/>
                    <a:lstStyle/>
                    <a:p>
                      <a:pPr defTabSz="914400">
                        <a:tabLst>
                          <a:tab pos="1663700" algn="l"/>
                        </a:tabLst>
                        <a:defRPr b="0"/>
                      </a:pPr>
                      <a:r>
                        <a:rPr b="1" sz="3200"/>
                        <a:t>4</a:t>
                      </a:r>
                    </a:p>
                  </a:txBody>
                  <a:tcPr marL="50800" marR="50800" marT="50800" marB="50800" anchor="ctr" anchorCtr="0" horzOverflow="overflow"/>
                </a:tc>
                <a:tc>
                  <a:txBody>
                    <a:bodyPr/>
                    <a:lstStyle/>
                    <a:p>
                      <a:pPr algn="l" defTabSz="2438338">
                        <a:lnSpc>
                          <a:spcPct val="80000"/>
                        </a:lnSpc>
                      </a:pPr>
                      <a:r>
                        <a:rPr spc="-70" sz="3500">
                          <a:latin typeface="Helvetica Neue Medium"/>
                          <a:ea typeface="Helvetica Neue Medium"/>
                          <a:cs typeface="Helvetica Neue Medium"/>
                          <a:sym typeface="Helvetica Neue Medium"/>
                        </a:rPr>
                        <a:t>Reactivation</a:t>
                      </a:r>
                    </a:p>
                  </a:txBody>
                  <a:tcPr marL="50800" marR="50800" marT="50800" marB="50800" anchor="ctr" anchorCtr="0" horzOverflow="overflow"/>
                </a:tc>
                <a:tc>
                  <a:txBody>
                    <a:bodyPr/>
                    <a:lstStyle/>
                    <a:p>
                      <a:pPr algn="l" defTabSz="2438338">
                        <a:lnSpc>
                          <a:spcPct val="80000"/>
                        </a:lnSpc>
                      </a:pPr>
                      <a:r>
                        <a:rPr spc="-42" sz="2100">
                          <a:latin typeface="Helvetica Neue Medium"/>
                          <a:ea typeface="Helvetica Neue Medium"/>
                          <a:cs typeface="Helvetica Neue Medium"/>
                          <a:sym typeface="Helvetica Neue Medium"/>
                        </a:rPr>
                        <a:t>Same customer + same product, came back after a prior cancellation</a:t>
                      </a:r>
                    </a:p>
                  </a:txBody>
                  <a:tcPr marL="50800" marR="50800" marT="50800" marB="50800" anchor="ctr" anchorCtr="0" horzOverflow="overflow"/>
                </a:tc>
              </a:tr>
              <a:tr h="682981">
                <a:tc>
                  <a:txBody>
                    <a:bodyPr/>
                    <a:lstStyle/>
                    <a:p>
                      <a:pPr defTabSz="914400">
                        <a:tabLst>
                          <a:tab pos="1663700" algn="l"/>
                        </a:tabLst>
                        <a:defRPr b="0"/>
                      </a:pPr>
                      <a:r>
                        <a:rPr b="1" sz="3200"/>
                        <a:t>5</a:t>
                      </a:r>
                    </a:p>
                  </a:txBody>
                  <a:tcPr marL="50800" marR="50800" marT="50800" marB="50800" anchor="ctr" anchorCtr="0" horzOverflow="overflow"/>
                </a:tc>
                <a:tc>
                  <a:txBody>
                    <a:bodyPr/>
                    <a:lstStyle/>
                    <a:p>
                      <a:pPr algn="l" defTabSz="2438338">
                        <a:lnSpc>
                          <a:spcPct val="80000"/>
                        </a:lnSpc>
                      </a:pPr>
                      <a:r>
                        <a:rPr spc="-70" sz="3500">
                          <a:latin typeface="Helvetica Neue Medium"/>
                          <a:ea typeface="Helvetica Neue Medium"/>
                          <a:cs typeface="Helvetica Neue Medium"/>
                          <a:sym typeface="Helvetica Neue Medium"/>
                        </a:rPr>
                        <a:t>Voluntary cancellation / Active</a:t>
                      </a:r>
                    </a:p>
                  </a:txBody>
                  <a:tcPr marL="50800" marR="50800" marT="50800" marB="50800" anchor="ctr" anchorCtr="0" horzOverflow="overflow"/>
                </a:tc>
                <a:tc>
                  <a:txBody>
                    <a:bodyPr/>
                    <a:lstStyle/>
                    <a:p>
                      <a:pPr algn="l" defTabSz="2438338">
                        <a:lnSpc>
                          <a:spcPct val="80000"/>
                        </a:lnSpc>
                      </a:pPr>
                      <a:r>
                        <a:rPr spc="-42" sz="2100">
                          <a:latin typeface="Helvetica Neue Medium"/>
                          <a:ea typeface="Helvetica Neue Medium"/>
                          <a:cs typeface="Helvetica Neue Medium"/>
                          <a:sym typeface="Helvetica Neue Medium"/>
                        </a:rPr>
                        <a:t>Status = Cancel / Active</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Part A.1 - One row per active subscription per month, with its MRR."/>
          <p:cNvSpPr txBox="1"/>
          <p:nvPr>
            <p:ph type="title"/>
          </p:nvPr>
        </p:nvSpPr>
        <p:spPr>
          <a:xfrm>
            <a:off x="4793863" y="-52167"/>
            <a:ext cx="16058945" cy="1998997"/>
          </a:xfrm>
          <a:prstGeom prst="rect">
            <a:avLst/>
          </a:prstGeom>
        </p:spPr>
        <p:txBody>
          <a:bodyPr/>
          <a:lstStyle/>
          <a:p>
            <a:pPr defTabSz="1316703">
              <a:defRPr b="1" spc="-74" sz="3726">
                <a:latin typeface="+mn-lt"/>
                <a:ea typeface="+mn-ea"/>
                <a:cs typeface="+mn-cs"/>
                <a:sym typeface="Helvetica Neue"/>
              </a:defRPr>
            </a:pPr>
            <a:r>
              <a:rPr spc="-123" sz="6156"/>
              <a:t>Part A.1 </a:t>
            </a:r>
            <a:r>
              <a:t>- One row per active subscription per month, with its MRR. </a:t>
            </a:r>
          </a:p>
          <a:p>
            <a:pPr defTabSz="1316703">
              <a:defRPr spc="-74" sz="3726"/>
            </a:pPr>
            <a:r>
              <a:t> </a:t>
            </a:r>
          </a:p>
        </p:txBody>
      </p:sp>
      <p:sp>
        <p:nvSpPr>
          <p:cNvPr id="214" name="Implementation:…"/>
          <p:cNvSpPr txBox="1"/>
          <p:nvPr/>
        </p:nvSpPr>
        <p:spPr>
          <a:xfrm>
            <a:off x="761987" y="1316979"/>
            <a:ext cx="16450088" cy="15137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70" sz="3500" u="sng"/>
            </a:pPr>
            <a:r>
              <a:t>Implementation: </a:t>
            </a:r>
          </a:p>
          <a:p>
            <a:pPr>
              <a:lnSpc>
                <a:spcPct val="80000"/>
              </a:lnSpc>
              <a:spcBef>
                <a:spcPts val="0"/>
              </a:spcBef>
              <a:defRPr spc="-70" sz="3500">
                <a:latin typeface="Helvetica Neue Medium"/>
                <a:ea typeface="Helvetica Neue Medium"/>
                <a:cs typeface="Helvetica Neue Medium"/>
                <a:sym typeface="Helvetica Neue Medium"/>
              </a:defRPr>
            </a:pPr>
            <a:endParaRPr b="1" u="sng">
              <a:latin typeface="+mn-lt"/>
              <a:ea typeface="+mn-ea"/>
              <a:cs typeface="+mn-cs"/>
              <a:sym typeface="Helvetica Neue"/>
            </a:endParaRPr>
          </a:p>
          <a:p>
            <a:pPr>
              <a:lnSpc>
                <a:spcPct val="80000"/>
              </a:lnSpc>
              <a:spcBef>
                <a:spcPts val="0"/>
              </a:spcBef>
              <a:defRPr spc="-70" sz="3500">
                <a:latin typeface="Helvetica Neue Medium"/>
                <a:ea typeface="Helvetica Neue Medium"/>
                <a:cs typeface="Helvetica Neue Medium"/>
                <a:sym typeface="Helvetica Neue Medium"/>
              </a:defRPr>
            </a:pPr>
            <a:r>
              <a:t>Created fact table </a:t>
            </a:r>
            <a:r>
              <a:rPr b="1">
                <a:latin typeface="+mn-lt"/>
                <a:ea typeface="+mn-ea"/>
                <a:cs typeface="+mn-cs"/>
                <a:sym typeface="Helvetica Neue"/>
              </a:rPr>
              <a:t>fct_subscription_monthly</a:t>
            </a:r>
            <a:r>
              <a:t> with below logic.</a:t>
            </a:r>
          </a:p>
        </p:txBody>
      </p:sp>
      <p:sp>
        <p:nvSpPr>
          <p:cNvPr id="215" name="Key design decisions:…"/>
          <p:cNvSpPr txBox="1"/>
          <p:nvPr/>
        </p:nvSpPr>
        <p:spPr>
          <a:xfrm>
            <a:off x="11362900" y="2896642"/>
            <a:ext cx="12231549" cy="1118181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70" sz="3500" u="sng"/>
            </a:pPr>
            <a:r>
              <a:t>Key design decisions:</a:t>
            </a:r>
          </a:p>
          <a:p>
            <a:pPr>
              <a:lnSpc>
                <a:spcPct val="80000"/>
              </a:lnSpc>
              <a:spcBef>
                <a:spcPts val="0"/>
              </a:spcBef>
              <a:defRPr spc="-70" sz="3500">
                <a:latin typeface="Helvetica Neue Medium"/>
                <a:ea typeface="Helvetica Neue Medium"/>
                <a:cs typeface="Helvetica Neue Medium"/>
                <a:sym typeface="Helvetica Neue Medium"/>
              </a:defRPr>
            </a:pPr>
            <a:r>
              <a:t>Filtered relevant lifecycle states</a:t>
            </a:r>
          </a:p>
          <a:p>
            <a:pPr lvl="1" marL="10541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Included only Active, Voluntary Cancellation, and Reactivation subscriptions with valid go-live dates.</a:t>
            </a:r>
          </a:p>
          <a:p>
            <a:pPr>
              <a:lnSpc>
                <a:spcPct val="80000"/>
              </a:lnSpc>
              <a:spcBef>
                <a:spcPts val="0"/>
              </a:spcBef>
              <a:defRPr spc="-70" sz="3500">
                <a:latin typeface="Helvetica Neue Medium"/>
                <a:ea typeface="Helvetica Neue Medium"/>
                <a:cs typeface="Helvetica Neue Medium"/>
                <a:sym typeface="Helvetica Neue Medium"/>
              </a:defRPr>
            </a:pPr>
          </a:p>
          <a:p>
            <a:pPr>
              <a:lnSpc>
                <a:spcPct val="80000"/>
              </a:lnSpc>
              <a:spcBef>
                <a:spcPts val="0"/>
              </a:spcBef>
              <a:defRPr spc="-70" sz="3500">
                <a:latin typeface="Helvetica Neue Medium"/>
                <a:ea typeface="Helvetica Neue Medium"/>
                <a:cs typeface="Helvetica Neue Medium"/>
                <a:sym typeface="Helvetica Neue Medium"/>
              </a:defRPr>
            </a:pPr>
            <a:r>
              <a:t>Calculated subscription duration</a:t>
            </a:r>
          </a:p>
          <a:p>
            <a:pPr lvl="1" marL="10541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Derived start and end months using go-live, cancellation, or current date logic.</a:t>
            </a:r>
          </a:p>
          <a:p>
            <a:pPr>
              <a:lnSpc>
                <a:spcPct val="80000"/>
              </a:lnSpc>
              <a:spcBef>
                <a:spcPts val="0"/>
              </a:spcBef>
              <a:defRPr spc="-70" sz="3500">
                <a:latin typeface="Helvetica Neue Medium"/>
                <a:ea typeface="Helvetica Neue Medium"/>
                <a:cs typeface="Helvetica Neue Medium"/>
                <a:sym typeface="Helvetica Neue Medium"/>
              </a:defRPr>
            </a:pPr>
          </a:p>
          <a:p>
            <a:pPr>
              <a:lnSpc>
                <a:spcPct val="80000"/>
              </a:lnSpc>
              <a:spcBef>
                <a:spcPts val="0"/>
              </a:spcBef>
              <a:defRPr spc="-70" sz="3500">
                <a:latin typeface="Helvetica Neue Medium"/>
                <a:ea typeface="Helvetica Neue Medium"/>
                <a:cs typeface="Helvetica Neue Medium"/>
                <a:sym typeface="Helvetica Neue Medium"/>
              </a:defRPr>
            </a:pPr>
            <a:r>
              <a:t>Expanded to monthly reporting grain</a:t>
            </a:r>
          </a:p>
          <a:p>
            <a:pPr lvl="1" marL="10541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Generated a month spine and exploded each subscription into one row per active subscription per month with MRR.</a:t>
            </a:r>
          </a:p>
          <a:p>
            <a:pPr>
              <a:lnSpc>
                <a:spcPct val="80000"/>
              </a:lnSpc>
              <a:spcBef>
                <a:spcPts val="0"/>
              </a:spcBef>
              <a:defRPr spc="-70" sz="3500">
                <a:latin typeface="Helvetica Neue Medium"/>
                <a:ea typeface="Helvetica Neue Medium"/>
                <a:cs typeface="Helvetica Neue Medium"/>
                <a:sym typeface="Helvetica Neue Medium"/>
              </a:defRPr>
            </a:pPr>
          </a:p>
          <a:p>
            <a:pPr>
              <a:lnSpc>
                <a:spcPct val="80000"/>
              </a:lnSpc>
              <a:spcBef>
                <a:spcPts val="0"/>
              </a:spcBef>
              <a:defRPr spc="-70" sz="3500">
                <a:latin typeface="Helvetica Neue Medium"/>
                <a:ea typeface="Helvetica Neue Medium"/>
                <a:cs typeface="Helvetica Neue Medium"/>
                <a:sym typeface="Helvetica Neue Medium"/>
              </a:defRPr>
            </a:pPr>
            <a:r>
              <a:t>Key Attributes:</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Subscription ID</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Customer ID</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Activity Month</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Product</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Plan</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Lifecycle State</a:t>
            </a:r>
          </a:p>
          <a:p>
            <a:pPr lvl="2" marL="16637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r>
              <a:t>MRR</a:t>
            </a:r>
          </a:p>
          <a:p>
            <a:pPr marL="444500" indent="-444500">
              <a:lnSpc>
                <a:spcPct val="80000"/>
              </a:lnSpc>
              <a:spcBef>
                <a:spcPts val="0"/>
              </a:spcBef>
              <a:buSzPct val="123000"/>
              <a:buChar char="•"/>
              <a:defRPr spc="-70" sz="3500">
                <a:latin typeface="Helvetica Neue Medium"/>
                <a:ea typeface="Helvetica Neue Medium"/>
                <a:cs typeface="Helvetica Neue Medium"/>
                <a:sym typeface="Helvetica Neue Medium"/>
              </a:defRPr>
            </a:pPr>
          </a:p>
          <a:p>
            <a:pPr>
              <a:lnSpc>
                <a:spcPct val="80000"/>
              </a:lnSpc>
              <a:spcBef>
                <a:spcPts val="0"/>
              </a:spcBef>
              <a:defRPr spc="-70" sz="3500">
                <a:latin typeface="Helvetica Neue Medium"/>
                <a:ea typeface="Helvetica Neue Medium"/>
                <a:cs typeface="Helvetica Neue Medium"/>
                <a:sym typeface="Helvetica Neue Medium"/>
              </a:defRPr>
            </a:pPr>
          </a:p>
        </p:txBody>
      </p:sp>
      <p:sp>
        <p:nvSpPr>
          <p:cNvPr id="216" name="Lifecycle Intermediate Table…"/>
          <p:cNvSpPr txBox="1"/>
          <p:nvPr/>
        </p:nvSpPr>
        <p:spPr>
          <a:xfrm>
            <a:off x="765584" y="3595923"/>
            <a:ext cx="7568386" cy="812407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spc="-70" sz="3500">
                <a:latin typeface="Helvetica Neue Medium"/>
                <a:ea typeface="Helvetica Neue Medium"/>
                <a:cs typeface="Helvetica Neue Medium"/>
                <a:sym typeface="Helvetica Neue Medium"/>
              </a:defRPr>
            </a:pPr>
            <a:r>
              <a:t>Lifecycle Intermediate Table</a:t>
            </a:r>
          </a:p>
          <a:p>
            <a:pPr>
              <a:lnSpc>
                <a:spcPct val="80000"/>
              </a:lnSpc>
              <a:spcBef>
                <a:spcPts val="0"/>
              </a:spcBef>
              <a:defRPr spc="-70" sz="3500">
                <a:latin typeface="Helvetica Neue Medium"/>
                <a:ea typeface="Helvetica Neue Medium"/>
                <a:cs typeface="Helvetica Neue Medium"/>
                <a:sym typeface="Helvetica Neue Medium"/>
              </a:defRPr>
            </a:pPr>
            <a:r>
              <a:t>(Filtered States)</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Calculate</a:t>
            </a:r>
          </a:p>
          <a:p>
            <a:pPr>
              <a:lnSpc>
                <a:spcPct val="80000"/>
              </a:lnSpc>
              <a:spcBef>
                <a:spcPts val="0"/>
              </a:spcBef>
              <a:defRPr spc="-70" sz="3500">
                <a:latin typeface="Helvetica Neue Medium"/>
                <a:ea typeface="Helvetica Neue Medium"/>
                <a:cs typeface="Helvetica Neue Medium"/>
                <a:sym typeface="Helvetica Neue Medium"/>
              </a:defRPr>
            </a:pPr>
            <a:r>
              <a:t>Start &amp; End Month</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Generate</a:t>
            </a:r>
          </a:p>
          <a:p>
            <a:pPr>
              <a:lnSpc>
                <a:spcPct val="80000"/>
              </a:lnSpc>
              <a:spcBef>
                <a:spcPts val="0"/>
              </a:spcBef>
              <a:defRPr spc="-70" sz="3500">
                <a:latin typeface="Helvetica Neue Medium"/>
                <a:ea typeface="Helvetica Neue Medium"/>
                <a:cs typeface="Helvetica Neue Medium"/>
                <a:sym typeface="Helvetica Neue Medium"/>
              </a:defRPr>
            </a:pPr>
            <a:r>
              <a:t>Month Spine</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Expand Subscription</a:t>
            </a:r>
          </a:p>
          <a:p>
            <a:pPr>
              <a:lnSpc>
                <a:spcPct val="80000"/>
              </a:lnSpc>
              <a:spcBef>
                <a:spcPts val="0"/>
              </a:spcBef>
              <a:defRPr spc="-70" sz="3500">
                <a:latin typeface="Helvetica Neue Medium"/>
                <a:ea typeface="Helvetica Neue Medium"/>
                <a:cs typeface="Helvetica Neue Medium"/>
                <a:sym typeface="Helvetica Neue Medium"/>
              </a:defRPr>
            </a:pPr>
            <a:r>
              <a:t>Across Months</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        ▼</a:t>
            </a:r>
          </a:p>
          <a:p>
            <a:pPr>
              <a:lnSpc>
                <a:spcPct val="80000"/>
              </a:lnSpc>
              <a:spcBef>
                <a:spcPts val="0"/>
              </a:spcBef>
              <a:defRPr spc="-70" sz="3500">
                <a:latin typeface="Helvetica Neue Medium"/>
                <a:ea typeface="Helvetica Neue Medium"/>
                <a:cs typeface="Helvetica Neue Medium"/>
                <a:sym typeface="Helvetica Neue Medium"/>
              </a:defRPr>
            </a:pPr>
            <a:r>
              <a:t>FCT_SUBSCRIPTION_MONTHLY</a:t>
            </a:r>
          </a:p>
          <a:p>
            <a:pPr>
              <a:lnSpc>
                <a:spcPct val="80000"/>
              </a:lnSpc>
              <a:spcBef>
                <a:spcPts val="0"/>
              </a:spcBef>
              <a:defRPr spc="-70" sz="3500">
                <a:latin typeface="Helvetica Neue Medium"/>
                <a:ea typeface="Helvetica Neue Medium"/>
                <a:cs typeface="Helvetica Neue Medium"/>
                <a:sym typeface="Helvetica Neue Medium"/>
              </a:defRPr>
            </a:pPr>
            <a:r>
              <a:t>(1 Row = 1 Subscription × 1 Month)</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Part B — Define Metric and Find a Signal…"/>
          <p:cNvSpPr txBox="1"/>
          <p:nvPr>
            <p:ph type="title"/>
          </p:nvPr>
        </p:nvSpPr>
        <p:spPr>
          <a:xfrm>
            <a:off x="643561" y="1571081"/>
            <a:ext cx="23234716" cy="10120735"/>
          </a:xfrm>
          <a:prstGeom prst="rect">
            <a:avLst/>
          </a:prstGeom>
        </p:spPr>
        <p:txBody>
          <a:bodyPr/>
          <a:lstStyle/>
          <a:p>
            <a:pPr defTabSz="457200">
              <a:lnSpc>
                <a:spcPct val="100000"/>
              </a:lnSpc>
              <a:defRPr spc="0" sz="1200">
                <a:latin typeface="Arial"/>
                <a:ea typeface="Arial"/>
                <a:cs typeface="Arial"/>
                <a:sym typeface="Arial"/>
              </a:defRPr>
            </a:pPr>
          </a:p>
          <a:p>
            <a:pPr defTabSz="457200">
              <a:lnSpc>
                <a:spcPct val="100000"/>
              </a:lnSpc>
              <a:defRPr b="1" spc="0" sz="8000">
                <a:solidFill>
                  <a:srgbClr val="3988C2"/>
                </a:solidFill>
                <a:latin typeface="Arial"/>
                <a:ea typeface="Arial"/>
                <a:cs typeface="Arial"/>
                <a:sym typeface="Arial"/>
              </a:defRPr>
            </a:pPr>
            <a:r>
              <a:t>Part B — Define Metric and Find a Signal</a:t>
            </a:r>
          </a:p>
          <a:p>
            <a:pPr defTabSz="457200">
              <a:lnSpc>
                <a:spcPct val="100000"/>
              </a:lnSpc>
              <a:defRPr spc="0" sz="6700">
                <a:latin typeface="Arial"/>
                <a:ea typeface="Arial"/>
                <a:cs typeface="Arial"/>
                <a:sym typeface="Arial"/>
              </a:defRPr>
            </a:pPr>
          </a:p>
          <a:p>
            <a:pPr defTabSz="457200">
              <a:lnSpc>
                <a:spcPct val="100000"/>
              </a:lnSpc>
              <a:defRPr b="1" spc="0" sz="5000">
                <a:latin typeface="Arial"/>
                <a:ea typeface="Arial"/>
                <a:cs typeface="Arial"/>
                <a:sym typeface="Arial"/>
              </a:defRPr>
            </a:pPr>
            <a:r>
              <a:rPr b="0"/>
              <a:t>1. Churn Rate </a:t>
            </a:r>
            <a:endParaRPr b="0"/>
          </a:p>
          <a:p>
            <a:pPr defTabSz="457200">
              <a:lnSpc>
                <a:spcPct val="100000"/>
              </a:lnSpc>
              <a:defRPr b="1" spc="0" sz="5000">
                <a:latin typeface="Arial"/>
                <a:ea typeface="Arial"/>
                <a:cs typeface="Arial"/>
                <a:sym typeface="Arial"/>
              </a:defRPr>
            </a:pPr>
            <a:endParaRPr b="0"/>
          </a:p>
          <a:p>
            <a:pPr defTabSz="457200">
              <a:lnSpc>
                <a:spcPct val="100000"/>
              </a:lnSpc>
              <a:defRPr spc="0" sz="5000">
                <a:latin typeface="Arial"/>
                <a:ea typeface="Arial"/>
                <a:cs typeface="Arial"/>
                <a:sym typeface="Arial"/>
              </a:defRPr>
            </a:pPr>
            <a:r>
              <a:t>2. Leading Indicator</a:t>
            </a:r>
          </a:p>
          <a:p>
            <a:pPr defTabSz="457200">
              <a:lnSpc>
                <a:spcPct val="100000"/>
              </a:lnSpc>
              <a:defRPr spc="0" sz="5000">
                <a:latin typeface="Arial"/>
                <a:ea typeface="Arial"/>
                <a:cs typeface="Arial"/>
                <a:sym typeface="Arial"/>
              </a:defRPr>
            </a:pPr>
          </a:p>
          <a:p>
            <a:pPr defTabSz="457200">
              <a:lnSpc>
                <a:spcPct val="100000"/>
              </a:lnSpc>
              <a:defRPr b="1" spc="0" sz="5000">
                <a:latin typeface="Arial"/>
                <a:ea typeface="Arial"/>
                <a:cs typeface="Arial"/>
                <a:sym typeface="Arial"/>
              </a:defRPr>
            </a:pPr>
            <a:r>
              <a:rPr b="0"/>
              <a:t>3. Recommendation</a:t>
            </a:r>
            <a:endParaRPr b="0"/>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0" name="Step 1 – Define the Reporting Window…"/>
          <p:cNvSpPr txBox="1"/>
          <p:nvPr/>
        </p:nvSpPr>
        <p:spPr>
          <a:xfrm>
            <a:off x="889121" y="3593378"/>
            <a:ext cx="23435348" cy="1034627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194505">
              <a:lnSpc>
                <a:spcPct val="80000"/>
              </a:lnSpc>
              <a:spcBef>
                <a:spcPts val="0"/>
              </a:spcBef>
              <a:defRPr b="1" spc="-81" sz="4050"/>
            </a:pPr>
            <a:r>
              <a:t>Step 1 – Define the Reporting Window</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Generated a rolling 12-month reporting period to analyse monthly churn trends.</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Excluded the current partial month to ensure complete and comparable metrics.</a:t>
            </a:r>
          </a:p>
          <a:p>
            <a:pPr defTabSz="2194505">
              <a:lnSpc>
                <a:spcPct val="80000"/>
              </a:lnSpc>
              <a:spcBef>
                <a:spcPts val="0"/>
              </a:spcBef>
              <a:defRPr spc="-81" sz="4050">
                <a:latin typeface="Helvetica Neue Medium"/>
                <a:ea typeface="Helvetica Neue Medium"/>
                <a:cs typeface="Helvetica Neue Medium"/>
                <a:sym typeface="Helvetica Neue Medium"/>
              </a:defRPr>
            </a:pPr>
          </a:p>
          <a:p>
            <a:pPr defTabSz="2194505">
              <a:lnSpc>
                <a:spcPct val="80000"/>
              </a:lnSpc>
              <a:spcBef>
                <a:spcPts val="0"/>
              </a:spcBef>
              <a:defRPr b="1" spc="-81" sz="4050"/>
            </a:pPr>
            <a:r>
              <a:t>Step 2 – Establish the Active Customer Base</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Counted subscriptions active at the start of each month as the churn denominator.</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Excluded subscriptions not yet live or already cancelled to avoid overstating the active base.</a:t>
            </a:r>
          </a:p>
          <a:p>
            <a:pPr defTabSz="2194505">
              <a:lnSpc>
                <a:spcPct val="80000"/>
              </a:lnSpc>
              <a:spcBef>
                <a:spcPts val="0"/>
              </a:spcBef>
              <a:defRPr spc="-81" sz="4050">
                <a:latin typeface="Helvetica Neue Medium"/>
                <a:ea typeface="Helvetica Neue Medium"/>
                <a:cs typeface="Helvetica Neue Medium"/>
                <a:sym typeface="Helvetica Neue Medium"/>
              </a:defRPr>
            </a:pPr>
          </a:p>
          <a:p>
            <a:pPr defTabSz="2194505">
              <a:lnSpc>
                <a:spcPct val="80000"/>
              </a:lnSpc>
              <a:spcBef>
                <a:spcPts val="0"/>
              </a:spcBef>
              <a:defRPr b="1" spc="-81" sz="4050"/>
            </a:pPr>
            <a:r>
              <a:t>Step 3 – Identify Genuine Churn Events</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Counted only Voluntary Cancellations as churn events.</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Excluded Fraud and Cancelled Before Go-Live; tracked Early-Life Churn separately while retaining it in the churn metric.</a:t>
            </a:r>
          </a:p>
          <a:p>
            <a:pPr defTabSz="2194505">
              <a:lnSpc>
                <a:spcPct val="80000"/>
              </a:lnSpc>
              <a:spcBef>
                <a:spcPts val="0"/>
              </a:spcBef>
              <a:defRPr spc="-81" sz="4050">
                <a:latin typeface="Helvetica Neue Medium"/>
                <a:ea typeface="Helvetica Neue Medium"/>
                <a:cs typeface="Helvetica Neue Medium"/>
                <a:sym typeface="Helvetica Neue Medium"/>
              </a:defRPr>
            </a:pPr>
          </a:p>
          <a:p>
            <a:pPr defTabSz="2194505">
              <a:lnSpc>
                <a:spcPct val="80000"/>
              </a:lnSpc>
              <a:spcBef>
                <a:spcPts val="0"/>
              </a:spcBef>
              <a:defRPr b="1" spc="-81" sz="4050"/>
            </a:pPr>
            <a:r>
              <a:t>Step 4 – Calculate Monthly &amp; Annualised Churn</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Calculated Monthly Churn Rate = Churned Subscriptions ÷ Active Base.</a:t>
            </a: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r>
              <a:t>Annualised using the compounded formula to reflect the cumulative impact of monthly churn.</a:t>
            </a:r>
          </a:p>
          <a:p>
            <a:pPr lvl="2" indent="822959" defTabSz="2194505">
              <a:lnSpc>
                <a:spcPct val="80000"/>
              </a:lnSpc>
              <a:spcBef>
                <a:spcPts val="0"/>
              </a:spcBef>
              <a:defRPr spc="-81" sz="4050">
                <a:latin typeface="Helvetica Neue Medium"/>
                <a:ea typeface="Helvetica Neue Medium"/>
                <a:cs typeface="Helvetica Neue Medium"/>
                <a:sym typeface="Helvetica Neue Medium"/>
              </a:defRPr>
            </a:pPr>
          </a:p>
          <a:p>
            <a:pPr lvl="1" indent="411479" defTabSz="2194505">
              <a:lnSpc>
                <a:spcPct val="80000"/>
              </a:lnSpc>
              <a:spcBef>
                <a:spcPts val="0"/>
              </a:spcBef>
              <a:defRPr spc="-81" sz="4050">
                <a:latin typeface="Helvetica Neue Medium"/>
                <a:ea typeface="Helvetica Neue Medium"/>
                <a:cs typeface="Helvetica Neue Medium"/>
                <a:sym typeface="Helvetica Neue Medium"/>
              </a:defRPr>
            </a:pPr>
          </a:p>
          <a:p>
            <a:pPr defTabSz="2194505">
              <a:lnSpc>
                <a:spcPct val="80000"/>
              </a:lnSpc>
              <a:spcBef>
                <a:spcPts val="0"/>
              </a:spcBef>
              <a:defRPr spc="-81" sz="4050">
                <a:latin typeface="Helvetica Neue Medium"/>
                <a:ea typeface="Helvetica Neue Medium"/>
                <a:cs typeface="Helvetica Neue Medium"/>
                <a:sym typeface="Helvetica Neue Medium"/>
              </a:defRPr>
            </a:pPr>
          </a:p>
        </p:txBody>
      </p:sp>
      <p:sp>
        <p:nvSpPr>
          <p:cNvPr id="221" name="Implementation: Created fct_churn_metrics with below steps"/>
          <p:cNvSpPr txBox="1"/>
          <p:nvPr/>
        </p:nvSpPr>
        <p:spPr>
          <a:xfrm>
            <a:off x="1159232" y="1563567"/>
            <a:ext cx="19409808"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90" sz="4500" u="sng"/>
            </a:pPr>
            <a:r>
              <a:t>Implementation: </a:t>
            </a:r>
            <a:r>
              <a:rPr b="0" u="none">
                <a:latin typeface="Helvetica Neue Medium"/>
                <a:ea typeface="Helvetica Neue Medium"/>
                <a:cs typeface="Helvetica Neue Medium"/>
                <a:sym typeface="Helvetica Neue Medium"/>
              </a:rPr>
              <a:t>Created f</a:t>
            </a:r>
            <a:r>
              <a:rPr u="none"/>
              <a:t>ct_churn_metrics</a:t>
            </a:r>
            <a:r>
              <a:rPr b="0" u="none">
                <a:latin typeface="Helvetica Neue Medium"/>
                <a:ea typeface="Helvetica Neue Medium"/>
                <a:cs typeface="Helvetica Neue Medium"/>
                <a:sym typeface="Helvetica Neue Medium"/>
              </a:rPr>
              <a:t> with below steps</a:t>
            </a:r>
          </a:p>
        </p:txBody>
      </p:sp>
      <p:sp>
        <p:nvSpPr>
          <p:cNvPr id="222" name="Part B.1 : Churn Rate"/>
          <p:cNvSpPr txBox="1"/>
          <p:nvPr>
            <p:ph type="title"/>
          </p:nvPr>
        </p:nvSpPr>
        <p:spPr>
          <a:xfrm>
            <a:off x="4331847" y="-289193"/>
            <a:ext cx="15720306" cy="1998998"/>
          </a:xfrm>
          <a:prstGeom prst="rect">
            <a:avLst/>
          </a:prstGeom>
        </p:spPr>
        <p:txBody>
          <a:bodyPr/>
          <a:lstStyle>
            <a:lvl1pPr>
              <a:defRPr spc="-138" sz="6900"/>
            </a:lvl1pPr>
          </a:lstStyle>
          <a:p>
            <a:pPr/>
            <a:r>
              <a:t>Part B.1 : Churn Rate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Data Table:"/>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u="sng"/>
            </a:lvl1pPr>
          </a:lstStyle>
          <a:p>
            <a:pPr/>
            <a:r>
              <a:t>Data Table:</a:t>
            </a:r>
          </a:p>
        </p:txBody>
      </p:sp>
      <p:sp>
        <p:nvSpPr>
          <p:cNvPr id="225" name="Part B.1 : Churn Rate"/>
          <p:cNvSpPr txBox="1"/>
          <p:nvPr>
            <p:ph type="title"/>
          </p:nvPr>
        </p:nvSpPr>
        <p:spPr>
          <a:xfrm>
            <a:off x="4331847" y="-289193"/>
            <a:ext cx="15720306" cy="1998998"/>
          </a:xfrm>
          <a:prstGeom prst="rect">
            <a:avLst/>
          </a:prstGeom>
        </p:spPr>
        <p:txBody>
          <a:bodyPr/>
          <a:lstStyle>
            <a:lvl1pPr>
              <a:defRPr spc="-138" sz="6900"/>
            </a:lvl1pPr>
          </a:lstStyle>
          <a:p>
            <a:pPr/>
            <a:r>
              <a:t>Part B.1 : Churn Rate</a:t>
            </a:r>
          </a:p>
        </p:txBody>
      </p:sp>
      <p:pic>
        <p:nvPicPr>
          <p:cNvPr id="226" name="pasted-movie.png" descr="pasted-movie.png"/>
          <p:cNvPicPr>
            <a:picLocks noChangeAspect="1"/>
          </p:cNvPicPr>
          <p:nvPr/>
        </p:nvPicPr>
        <p:blipFill>
          <a:blip r:embed="rId2">
            <a:extLst/>
          </a:blip>
          <a:stretch>
            <a:fillRect/>
          </a:stretch>
        </p:blipFill>
        <p:spPr>
          <a:xfrm>
            <a:off x="870422" y="3245991"/>
            <a:ext cx="22643156" cy="619200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Part B.3 : Churn Rate Recommendations"/>
          <p:cNvSpPr txBox="1"/>
          <p:nvPr>
            <p:ph type="title"/>
          </p:nvPr>
        </p:nvSpPr>
        <p:spPr>
          <a:xfrm>
            <a:off x="4331847" y="-289193"/>
            <a:ext cx="15720306" cy="1998998"/>
          </a:xfrm>
          <a:prstGeom prst="rect">
            <a:avLst/>
          </a:prstGeom>
        </p:spPr>
        <p:txBody>
          <a:bodyPr/>
          <a:lstStyle>
            <a:lvl1pPr defTabSz="2389572">
              <a:defRPr spc="-135" sz="6762"/>
            </a:lvl1pPr>
          </a:lstStyle>
          <a:p>
            <a:pPr/>
            <a:r>
              <a:t>Part B.3 : Churn Rate Recommendations </a:t>
            </a:r>
          </a:p>
        </p:txBody>
      </p:sp>
      <p:sp>
        <p:nvSpPr>
          <p:cNvPr id="229" name="Key Insights:…"/>
          <p:cNvSpPr txBox="1"/>
          <p:nvPr/>
        </p:nvSpPr>
        <p:spPr>
          <a:xfrm>
            <a:off x="1289488" y="1866801"/>
            <a:ext cx="21805025" cy="1101007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78" sz="3900" u="sng"/>
            </a:pPr>
            <a:r>
              <a:t>Key Insights:</a:t>
            </a: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Monthly churn remained consistently below 1.2%, indicating a relatively stable subscription base over the last 12 months.</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Annualised churn ranged from 1.93% to 12.86%, with the highest churn observed in October 2025 and June 2026, suggesting periods that warrant further investigation.</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Early-life churn was minimal (0–1 subscription per month), indicating that new customer onboarding is generally effective.</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defTabSz="457200">
              <a:lnSpc>
                <a:spcPct val="100000"/>
              </a:lnSpc>
              <a:spcBef>
                <a:spcPts val="0"/>
              </a:spcBef>
              <a:buSzPct val="123000"/>
              <a:buChar char="•"/>
              <a:defRPr spc="-78" sz="3900">
                <a:latin typeface="Helvetica Neue Medium"/>
                <a:ea typeface="Helvetica Neue Medium"/>
                <a:cs typeface="Helvetica Neue Medium"/>
                <a:sym typeface="Helvetica Neue Medium"/>
              </a:defRPr>
            </a:pPr>
            <a:r>
              <a:t>Despite periodic churn, the active subscription </a:t>
            </a:r>
            <a:r>
              <a:rPr>
                <a:solidFill>
                  <a:schemeClr val="accent3">
                    <a:hueOff val="362282"/>
                    <a:satOff val="31803"/>
                    <a:lumOff val="-18242"/>
                  </a:schemeClr>
                </a:solidFill>
              </a:rPr>
              <a:t>base grew by ~30%</a:t>
            </a:r>
            <a:r>
              <a:t> over the last 12 months (488 → 632), indicating overall customer growth exceeded customer attrition.</a:t>
            </a:r>
          </a:p>
          <a:p>
            <a:pPr>
              <a:lnSpc>
                <a:spcPct val="80000"/>
              </a:lnSpc>
              <a:spcBef>
                <a:spcPts val="0"/>
              </a:spcBef>
              <a:defRPr b="1" spc="-78" sz="3900" u="sng"/>
            </a:pPr>
          </a:p>
          <a:p>
            <a:pPr>
              <a:lnSpc>
                <a:spcPct val="80000"/>
              </a:lnSpc>
              <a:spcBef>
                <a:spcPts val="0"/>
              </a:spcBef>
              <a:defRPr b="1" spc="-78" sz="3900" u="sng"/>
            </a:pPr>
            <a:r>
              <a:t>Business Recommendation</a:t>
            </a: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Investigate the root causes behind the churn spikes in October 2025 and June 2026 using customer behaviour, support interactions, and billing history.</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Develop an early warning framework to proactively identify at-risk customers before voluntary cancellation.</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Continue monitoring early-life churn as a leading quality metric for customer onboarding and service activation.</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Step 1 – Establish a Common Observation Window…"/>
          <p:cNvSpPr txBox="1"/>
          <p:nvPr/>
        </p:nvSpPr>
        <p:spPr>
          <a:xfrm>
            <a:off x="1007633" y="3682263"/>
            <a:ext cx="23435349" cy="1058283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2072588">
              <a:lnSpc>
                <a:spcPct val="80000"/>
              </a:lnSpc>
              <a:spcBef>
                <a:spcPts val="0"/>
              </a:spcBef>
              <a:defRPr spc="-76" sz="3825">
                <a:latin typeface="Helvetica Neue Medium"/>
                <a:ea typeface="Helvetica Neue Medium"/>
                <a:cs typeface="Helvetica Neue Medium"/>
                <a:sym typeface="Helvetica Neue Medium"/>
              </a:defRPr>
            </a:pPr>
            <a:r>
              <a:t>Step 1 – Establish a Common Observation Window</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Evaluated all candidate signals within a fixed 60-day lookback period before each subscription's reference date.</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Ensured every indicator was measured using the same time horizon for a fair comparison.</a:t>
            </a:r>
          </a:p>
          <a:p>
            <a:pPr defTabSz="2072588">
              <a:lnSpc>
                <a:spcPct val="80000"/>
              </a:lnSpc>
              <a:spcBef>
                <a:spcPts val="0"/>
              </a:spcBef>
              <a:defRPr spc="-76" sz="3825">
                <a:latin typeface="Helvetica Neue Medium"/>
                <a:ea typeface="Helvetica Neue Medium"/>
                <a:cs typeface="Helvetica Neue Medium"/>
                <a:sym typeface="Helvetica Neue Medium"/>
              </a:defRPr>
            </a:pPr>
          </a:p>
          <a:p>
            <a:pPr defTabSz="2072588">
              <a:lnSpc>
                <a:spcPct val="80000"/>
              </a:lnSpc>
              <a:spcBef>
                <a:spcPts val="0"/>
              </a:spcBef>
              <a:defRPr spc="-76" sz="3825">
                <a:latin typeface="Helvetica Neue Medium"/>
                <a:ea typeface="Helvetica Neue Medium"/>
                <a:cs typeface="Helvetica Neue Medium"/>
                <a:sym typeface="Helvetica Neue Medium"/>
              </a:defRPr>
            </a:pPr>
            <a:r>
              <a:t>Step 2 – Test Multiple Churn Hypotheses</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Evaluated all </a:t>
            </a:r>
            <a:r>
              <a:rPr>
                <a:solidFill>
                  <a:schemeClr val="accent5">
                    <a:hueOff val="-82419"/>
                    <a:satOff val="-9513"/>
                    <a:lumOff val="-16343"/>
                  </a:schemeClr>
                </a:solidFill>
              </a:rPr>
              <a:t>*</a:t>
            </a:r>
            <a:r>
              <a:rPr b="1" i="1">
                <a:solidFill>
                  <a:schemeClr val="accent5">
                    <a:hueOff val="-82419"/>
                    <a:satOff val="-9513"/>
                    <a:lumOff val="-16343"/>
                  </a:schemeClr>
                </a:solidFill>
                <a:latin typeface="+mn-lt"/>
                <a:ea typeface="+mn-ea"/>
                <a:cs typeface="+mn-cs"/>
                <a:sym typeface="Helvetica Neue"/>
              </a:rPr>
              <a:t>6 signals* </a:t>
            </a:r>
            <a:r>
              <a:t>behavioural, support, portal activity, billing, and usage-based indicators.</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Compared how frequently each signal appeared in churned versus active subscriptions.</a:t>
            </a:r>
          </a:p>
          <a:p>
            <a:pPr defTabSz="2072588">
              <a:lnSpc>
                <a:spcPct val="80000"/>
              </a:lnSpc>
              <a:spcBef>
                <a:spcPts val="0"/>
              </a:spcBef>
              <a:defRPr spc="-76" sz="3825">
                <a:latin typeface="Helvetica Neue Medium"/>
                <a:ea typeface="Helvetica Neue Medium"/>
                <a:cs typeface="Helvetica Neue Medium"/>
                <a:sym typeface="Helvetica Neue Medium"/>
              </a:defRPr>
            </a:pPr>
          </a:p>
          <a:p>
            <a:pPr defTabSz="2072588">
              <a:lnSpc>
                <a:spcPct val="80000"/>
              </a:lnSpc>
              <a:spcBef>
                <a:spcPts val="0"/>
              </a:spcBef>
              <a:defRPr spc="-76" sz="3825">
                <a:latin typeface="Helvetica Neue Medium"/>
                <a:ea typeface="Helvetica Neue Medium"/>
                <a:cs typeface="Helvetica Neue Medium"/>
                <a:sym typeface="Helvetica Neue Medium"/>
              </a:defRPr>
            </a:pPr>
            <a:r>
              <a:t>Step 3 – Quantify Churn Risk</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Calculated a Risk Ratio by comparing the occurrence rate of each signal in churned and active populations.</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A Risk Ratio &gt; 1 indicates increased churn risk, while &lt; 1 indicates a protective behaviour.</a:t>
            </a:r>
          </a:p>
          <a:p>
            <a:pPr defTabSz="2072588">
              <a:lnSpc>
                <a:spcPct val="80000"/>
              </a:lnSpc>
              <a:spcBef>
                <a:spcPts val="0"/>
              </a:spcBef>
              <a:defRPr spc="-76" sz="3825">
                <a:latin typeface="Helvetica Neue Medium"/>
                <a:ea typeface="Helvetica Neue Medium"/>
                <a:cs typeface="Helvetica Neue Medium"/>
                <a:sym typeface="Helvetica Neue Medium"/>
              </a:defRPr>
            </a:pPr>
          </a:p>
          <a:p>
            <a:pPr defTabSz="2072588">
              <a:lnSpc>
                <a:spcPct val="80000"/>
              </a:lnSpc>
              <a:spcBef>
                <a:spcPts val="0"/>
              </a:spcBef>
              <a:defRPr spc="-76" sz="3825">
                <a:latin typeface="Helvetica Neue Medium"/>
                <a:ea typeface="Helvetica Neue Medium"/>
                <a:cs typeface="Helvetica Neue Medium"/>
                <a:sym typeface="Helvetica Neue Medium"/>
              </a:defRPr>
            </a:pPr>
            <a:r>
              <a:t>Step 4 – Select the Strongest Business Signal</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Identified the indicator with the highest and most defensible risk ratio.</a:t>
            </a:r>
          </a:p>
          <a:p>
            <a:pPr lvl="1" marL="1003935" indent="-485775" defTabSz="2072588">
              <a:lnSpc>
                <a:spcPct val="80000"/>
              </a:lnSpc>
              <a:spcBef>
                <a:spcPts val="0"/>
              </a:spcBef>
              <a:buSzPct val="123000"/>
              <a:buChar char="•"/>
              <a:defRPr spc="-76" sz="3825">
                <a:latin typeface="Helvetica Neue Medium"/>
                <a:ea typeface="Helvetica Neue Medium"/>
                <a:cs typeface="Helvetica Neue Medium"/>
                <a:sym typeface="Helvetica Neue Medium"/>
              </a:defRPr>
            </a:pPr>
            <a:r>
              <a:t>Used the findings to recommend a proactive customer retention strategy.</a:t>
            </a:r>
          </a:p>
          <a:p>
            <a:pPr lvl="1" indent="388620" defTabSz="2072588">
              <a:lnSpc>
                <a:spcPct val="80000"/>
              </a:lnSpc>
              <a:spcBef>
                <a:spcPts val="0"/>
              </a:spcBef>
              <a:defRPr spc="-76" sz="3825">
                <a:latin typeface="Helvetica Neue Medium"/>
                <a:ea typeface="Helvetica Neue Medium"/>
                <a:cs typeface="Helvetica Neue Medium"/>
                <a:sym typeface="Helvetica Neue Medium"/>
              </a:defRPr>
            </a:pPr>
          </a:p>
          <a:p>
            <a:pPr lvl="2" indent="777240" defTabSz="2072588">
              <a:lnSpc>
                <a:spcPct val="80000"/>
              </a:lnSpc>
              <a:spcBef>
                <a:spcPts val="0"/>
              </a:spcBef>
              <a:defRPr spc="-76" sz="3825">
                <a:latin typeface="Helvetica Neue Medium"/>
                <a:ea typeface="Helvetica Neue Medium"/>
                <a:cs typeface="Helvetica Neue Medium"/>
                <a:sym typeface="Helvetica Neue Medium"/>
              </a:defRPr>
            </a:pPr>
          </a:p>
          <a:p>
            <a:pPr lvl="1" indent="388620" defTabSz="2072588">
              <a:lnSpc>
                <a:spcPct val="80000"/>
              </a:lnSpc>
              <a:spcBef>
                <a:spcPts val="0"/>
              </a:spcBef>
              <a:defRPr spc="-76" sz="3825">
                <a:latin typeface="Helvetica Neue Medium"/>
                <a:ea typeface="Helvetica Neue Medium"/>
                <a:cs typeface="Helvetica Neue Medium"/>
                <a:sym typeface="Helvetica Neue Medium"/>
              </a:defRPr>
            </a:pPr>
          </a:p>
          <a:p>
            <a:pPr defTabSz="2072588">
              <a:lnSpc>
                <a:spcPct val="80000"/>
              </a:lnSpc>
              <a:spcBef>
                <a:spcPts val="0"/>
              </a:spcBef>
              <a:defRPr spc="-76" sz="3825">
                <a:latin typeface="Helvetica Neue Medium"/>
                <a:ea typeface="Helvetica Neue Medium"/>
                <a:cs typeface="Helvetica Neue Medium"/>
                <a:sym typeface="Helvetica Neue Medium"/>
              </a:defRPr>
            </a:pPr>
          </a:p>
        </p:txBody>
      </p:sp>
      <p:sp>
        <p:nvSpPr>
          <p:cNvPr id="232" name="Implementation: Created fact table fct_leading_indicator_scan with below steps"/>
          <p:cNvSpPr txBox="1"/>
          <p:nvPr/>
        </p:nvSpPr>
        <p:spPr>
          <a:xfrm>
            <a:off x="1159232" y="1563567"/>
            <a:ext cx="21269440"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90" sz="4500" u="sng"/>
            </a:pPr>
            <a:r>
              <a:t>Implementation:</a:t>
            </a:r>
            <a:r>
              <a:rPr b="0" u="none">
                <a:latin typeface="Helvetica Neue Medium"/>
                <a:ea typeface="Helvetica Neue Medium"/>
                <a:cs typeface="Helvetica Neue Medium"/>
                <a:sym typeface="Helvetica Neue Medium"/>
              </a:rPr>
              <a:t> Created fact table </a:t>
            </a:r>
            <a:r>
              <a:rPr u="none"/>
              <a:t>fct_leading_indicator_scan</a:t>
            </a:r>
            <a:r>
              <a:rPr b="0" u="none">
                <a:latin typeface="Helvetica Neue Medium"/>
                <a:ea typeface="Helvetica Neue Medium"/>
                <a:cs typeface="Helvetica Neue Medium"/>
                <a:sym typeface="Helvetica Neue Medium"/>
              </a:rPr>
              <a:t> with below steps</a:t>
            </a:r>
          </a:p>
        </p:txBody>
      </p:sp>
      <p:sp>
        <p:nvSpPr>
          <p:cNvPr id="233" name="Part B.2 : Leading Indicator"/>
          <p:cNvSpPr txBox="1"/>
          <p:nvPr>
            <p:ph type="title"/>
          </p:nvPr>
        </p:nvSpPr>
        <p:spPr>
          <a:xfrm>
            <a:off x="4331847" y="-289193"/>
            <a:ext cx="15720306" cy="1998998"/>
          </a:xfrm>
          <a:prstGeom prst="rect">
            <a:avLst/>
          </a:prstGeom>
        </p:spPr>
        <p:txBody>
          <a:bodyPr/>
          <a:lstStyle>
            <a:lvl1pPr>
              <a:defRPr spc="-138" sz="6900"/>
            </a:lvl1pPr>
          </a:lstStyle>
          <a:p>
            <a:pPr/>
            <a:r>
              <a:t>Part B.2 : Leading Indicator</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Data Table:"/>
          <p:cNvSpPr txBox="1"/>
          <p:nvPr/>
        </p:nvSpPr>
        <p:spPr>
          <a:xfrm>
            <a:off x="1159232" y="1563567"/>
            <a:ext cx="14360285" cy="7835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nSpc>
                <a:spcPct val="80000"/>
              </a:lnSpc>
              <a:spcBef>
                <a:spcPts val="0"/>
              </a:spcBef>
              <a:defRPr b="1" spc="-90" sz="4500" u="sng"/>
            </a:lvl1pPr>
          </a:lstStyle>
          <a:p>
            <a:pPr/>
            <a:r>
              <a:t>Data Table:</a:t>
            </a:r>
          </a:p>
        </p:txBody>
      </p:sp>
      <p:sp>
        <p:nvSpPr>
          <p:cNvPr id="236" name="Part B.2 : Leading Indicator"/>
          <p:cNvSpPr txBox="1"/>
          <p:nvPr>
            <p:ph type="title"/>
          </p:nvPr>
        </p:nvSpPr>
        <p:spPr>
          <a:xfrm>
            <a:off x="4331847" y="-289193"/>
            <a:ext cx="15720306" cy="1998998"/>
          </a:xfrm>
          <a:prstGeom prst="rect">
            <a:avLst/>
          </a:prstGeom>
        </p:spPr>
        <p:txBody>
          <a:bodyPr/>
          <a:lstStyle>
            <a:lvl1pPr>
              <a:defRPr spc="-138" sz="6900"/>
            </a:lvl1pPr>
          </a:lstStyle>
          <a:p>
            <a:pPr/>
            <a:r>
              <a:t>Part B.2 : Leading Indicator</a:t>
            </a:r>
          </a:p>
        </p:txBody>
      </p:sp>
      <p:pic>
        <p:nvPicPr>
          <p:cNvPr id="237" name="pasted-movie.png" descr="pasted-movie.png"/>
          <p:cNvPicPr>
            <a:picLocks noChangeAspect="1"/>
          </p:cNvPicPr>
          <p:nvPr/>
        </p:nvPicPr>
        <p:blipFill>
          <a:blip r:embed="rId2">
            <a:extLst/>
          </a:blip>
          <a:stretch>
            <a:fillRect/>
          </a:stretch>
        </p:blipFill>
        <p:spPr>
          <a:xfrm>
            <a:off x="517987" y="4105791"/>
            <a:ext cx="23602026" cy="3741155"/>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Part B.3 : Leading Indicator Recommendations"/>
          <p:cNvSpPr txBox="1"/>
          <p:nvPr>
            <p:ph type="title"/>
          </p:nvPr>
        </p:nvSpPr>
        <p:spPr>
          <a:xfrm>
            <a:off x="2606399" y="-289193"/>
            <a:ext cx="19171202" cy="1998998"/>
          </a:xfrm>
          <a:prstGeom prst="rect">
            <a:avLst/>
          </a:prstGeom>
        </p:spPr>
        <p:txBody>
          <a:bodyPr/>
          <a:lstStyle>
            <a:lvl1pPr>
              <a:defRPr spc="-138" sz="6900"/>
            </a:lvl1pPr>
          </a:lstStyle>
          <a:p>
            <a:pPr/>
            <a:r>
              <a:t>Part B.3 : Leading Indicator Recommendations </a:t>
            </a:r>
          </a:p>
        </p:txBody>
      </p:sp>
      <p:sp>
        <p:nvSpPr>
          <p:cNvPr id="240" name="Key Insights:…"/>
          <p:cNvSpPr txBox="1"/>
          <p:nvPr/>
        </p:nvSpPr>
        <p:spPr>
          <a:xfrm>
            <a:off x="985856" y="1138125"/>
            <a:ext cx="21805025" cy="1143975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78" sz="3900" u="sng"/>
            </a:pPr>
            <a:r>
              <a:t>Key Insights:</a:t>
            </a:r>
          </a:p>
          <a:p>
            <a:pPr>
              <a:lnSpc>
                <a:spcPct val="80000"/>
              </a:lnSpc>
              <a:spcBef>
                <a:spcPts val="0"/>
              </a:spcBef>
              <a:defRPr b="1" spc="-78" sz="3900" u="sng"/>
            </a:pPr>
          </a:p>
          <a:p>
            <a:pPr>
              <a:lnSpc>
                <a:spcPct val="80000"/>
              </a:lnSpc>
              <a:spcBef>
                <a:spcPts val="0"/>
              </a:spcBef>
              <a:defRPr b="1" spc="-78" sz="3900" u="sng"/>
            </a:pPr>
          </a:p>
          <a:p>
            <a:pPr>
              <a:lnSpc>
                <a:spcPct val="80000"/>
              </a:lnSpc>
              <a:spcBef>
                <a:spcPts val="0"/>
              </a:spcBef>
              <a:defRPr spc="-78" sz="3900">
                <a:latin typeface="Helvetica Neue Medium"/>
                <a:ea typeface="Helvetica Neue Medium"/>
                <a:cs typeface="Helvetica Neue Medium"/>
                <a:sym typeface="Helvetica Neue Medium"/>
              </a:defRPr>
            </a:pPr>
          </a:p>
          <a:p>
            <a:pPr>
              <a:lnSpc>
                <a:spcPct val="80000"/>
              </a:lnSpc>
              <a:spcBef>
                <a:spcPts val="0"/>
              </a:spcBef>
              <a:defRPr b="1" spc="-78" sz="3900" u="sng"/>
            </a:pPr>
            <a:r>
              <a:t>Executive Insights:</a:t>
            </a:r>
          </a:p>
          <a:p>
            <a:pPr marL="495300" indent="-495300">
              <a:lnSpc>
                <a:spcPct val="80000"/>
              </a:lnSpc>
              <a:spcBef>
                <a:spcPts val="0"/>
              </a:spcBef>
              <a:buSzPct val="123000"/>
              <a:buChar char="•"/>
              <a:defRPr spc="-78" sz="3900">
                <a:latin typeface="Helvetica Neue Medium"/>
                <a:ea typeface="Helvetica Neue Medium"/>
                <a:cs typeface="Helvetica Neue Medium"/>
                <a:sym typeface="Helvetica Neue Medium"/>
              </a:defRPr>
            </a:pPr>
            <a:r>
              <a:t>Customers with unpaid or partially paid invoices were 1.65× more likely to churn within the following 60 days than customers without payment issues.</a:t>
            </a:r>
          </a:p>
          <a:p>
            <a:pPr>
              <a:lnSpc>
                <a:spcPct val="80000"/>
              </a:lnSpc>
              <a:spcBef>
                <a:spcPts val="0"/>
              </a:spcBef>
              <a:defRPr spc="-78" sz="3900">
                <a:latin typeface="Helvetica Neue Medium"/>
                <a:ea typeface="Helvetica Neue Medium"/>
                <a:cs typeface="Helvetica Neue Medium"/>
                <a:sym typeface="Helvetica Neue Medium"/>
              </a:defRPr>
            </a:pPr>
          </a:p>
          <a:p>
            <a:pPr marL="495300" indent="-495300">
              <a:lnSpc>
                <a:spcPct val="80000"/>
              </a:lnSpc>
              <a:spcBef>
                <a:spcPts val="0"/>
              </a:spcBef>
              <a:buSzPct val="123000"/>
              <a:buChar char="•"/>
              <a:defRPr spc="-78" sz="3900">
                <a:latin typeface="Helvetica Neue Medium"/>
                <a:ea typeface="Helvetica Neue Medium"/>
                <a:cs typeface="Helvetica Neue Medium"/>
                <a:sym typeface="Helvetica Neue Medium"/>
              </a:defRPr>
            </a:pPr>
            <a:r>
              <a:t>Behavioural and support-related signals did not show meaningful predictive power in this dataset.</a:t>
            </a:r>
          </a:p>
          <a:p>
            <a:pPr>
              <a:lnSpc>
                <a:spcPct val="80000"/>
              </a:lnSpc>
              <a:spcBef>
                <a:spcPts val="0"/>
              </a:spcBef>
              <a:defRPr spc="-78" sz="3900">
                <a:latin typeface="Helvetica Neue Medium"/>
                <a:ea typeface="Helvetica Neue Medium"/>
                <a:cs typeface="Helvetica Neue Medium"/>
                <a:sym typeface="Helvetica Neue Medium"/>
              </a:defRPr>
            </a:pPr>
          </a:p>
          <a:p>
            <a:pPr marL="495300" indent="-495300">
              <a:lnSpc>
                <a:spcPct val="80000"/>
              </a:lnSpc>
              <a:spcBef>
                <a:spcPts val="0"/>
              </a:spcBef>
              <a:buSzPct val="123000"/>
              <a:buChar char="•"/>
              <a:defRPr spc="-78" sz="3900">
                <a:latin typeface="Helvetica Neue Medium"/>
                <a:ea typeface="Helvetica Neue Medium"/>
                <a:cs typeface="Helvetica Neue Medium"/>
                <a:sym typeface="Helvetica Neue Medium"/>
              </a:defRPr>
            </a:pPr>
            <a:r>
              <a:t>High product usage appears to be protective, suggesting highly engaged customers are less likely to cancel.</a:t>
            </a:r>
          </a:p>
        </p:txBody>
      </p:sp>
      <p:pic>
        <p:nvPicPr>
          <p:cNvPr id="241" name="pasted-movie.png" descr="pasted-movie.png"/>
          <p:cNvPicPr>
            <a:picLocks noChangeAspect="1"/>
          </p:cNvPicPr>
          <p:nvPr/>
        </p:nvPicPr>
        <p:blipFill>
          <a:blip r:embed="rId2">
            <a:extLst/>
          </a:blip>
          <a:stretch>
            <a:fillRect/>
          </a:stretch>
        </p:blipFill>
        <p:spPr>
          <a:xfrm>
            <a:off x="985856" y="1138125"/>
            <a:ext cx="10895816" cy="4976529"/>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Part B.3 : Leading Indicator Recommendations"/>
          <p:cNvSpPr txBox="1"/>
          <p:nvPr>
            <p:ph type="title"/>
          </p:nvPr>
        </p:nvSpPr>
        <p:spPr>
          <a:xfrm>
            <a:off x="2606399" y="-289193"/>
            <a:ext cx="19171202" cy="1998998"/>
          </a:xfrm>
          <a:prstGeom prst="rect">
            <a:avLst/>
          </a:prstGeom>
        </p:spPr>
        <p:txBody>
          <a:bodyPr/>
          <a:lstStyle>
            <a:lvl1pPr>
              <a:defRPr spc="-138" sz="6900"/>
            </a:lvl1pPr>
          </a:lstStyle>
          <a:p>
            <a:pPr/>
            <a:r>
              <a:t>Part B.3 : Leading Indicator Recommendations </a:t>
            </a:r>
          </a:p>
        </p:txBody>
      </p:sp>
      <p:sp>
        <p:nvSpPr>
          <p:cNvPr id="244" name="Key Insights:…"/>
          <p:cNvSpPr txBox="1"/>
          <p:nvPr/>
        </p:nvSpPr>
        <p:spPr>
          <a:xfrm>
            <a:off x="939143" y="1108134"/>
            <a:ext cx="21805025" cy="1192014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nSpc>
                <a:spcPct val="80000"/>
              </a:lnSpc>
              <a:spcBef>
                <a:spcPts val="0"/>
              </a:spcBef>
              <a:defRPr b="1" spc="-78" sz="3900" u="sng"/>
            </a:pPr>
            <a:r>
              <a:t>Key Insights:</a:t>
            </a:r>
          </a:p>
          <a:p>
            <a:pPr>
              <a:lnSpc>
                <a:spcPct val="80000"/>
              </a:lnSpc>
              <a:spcBef>
                <a:spcPts val="0"/>
              </a:spcBef>
              <a:defRPr b="1" spc="-78" sz="3900" u="sng"/>
            </a:pPr>
          </a:p>
          <a:p>
            <a:pPr>
              <a:lnSpc>
                <a:spcPct val="80000"/>
              </a:lnSpc>
              <a:spcBef>
                <a:spcPts val="0"/>
              </a:spcBef>
              <a:defRPr b="1" spc="-78" sz="3900" u="sng"/>
            </a:pPr>
          </a:p>
          <a:p>
            <a:pPr>
              <a:lnSpc>
                <a:spcPct val="80000"/>
              </a:lnSpc>
              <a:spcBef>
                <a:spcPts val="0"/>
              </a:spcBef>
              <a:defRPr spc="-78" sz="3900">
                <a:latin typeface="Helvetica Neue Medium"/>
                <a:ea typeface="Helvetica Neue Medium"/>
                <a:cs typeface="Helvetica Neue Medium"/>
                <a:sym typeface="Helvetica Neue Medium"/>
              </a:defRPr>
            </a:pPr>
          </a:p>
          <a:p>
            <a:pPr>
              <a:lnSpc>
                <a:spcPct val="80000"/>
              </a:lnSpc>
              <a:spcBef>
                <a:spcPts val="0"/>
              </a:spcBef>
              <a:defRPr b="1" spc="-78" sz="3900" u="sng"/>
            </a:pPr>
            <a:r>
              <a:t>Business Recommendation:</a:t>
            </a: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Prioritise customers with unpaid or partially paid invoices for proactive retention campaigns within the next 60 days.</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Integrate billing health into a customer risk score to trigger early intervention by Customer Success teams.</a:t>
            </a:r>
          </a:p>
          <a:p>
            <a:pPr>
              <a:lnSpc>
                <a:spcPct val="80000"/>
              </a:lnSpc>
              <a:spcBef>
                <a:spcPts val="0"/>
              </a:spcBef>
              <a:defRPr spc="-78" sz="3900">
                <a:latin typeface="Helvetica Neue Medium"/>
                <a:ea typeface="Helvetica Neue Medium"/>
                <a:cs typeface="Helvetica Neue Medium"/>
                <a:sym typeface="Helvetica Neue Medium"/>
              </a:defRPr>
            </a:pPr>
          </a:p>
          <a:p>
            <a:pPr marL="571499" indent="-571499">
              <a:lnSpc>
                <a:spcPct val="80000"/>
              </a:lnSpc>
              <a:spcBef>
                <a:spcPts val="0"/>
              </a:spcBef>
              <a:buSzPct val="123000"/>
              <a:buChar char="•"/>
              <a:defRPr spc="-78" sz="3900">
                <a:latin typeface="Helvetica Neue Medium"/>
                <a:ea typeface="Helvetica Neue Medium"/>
                <a:cs typeface="Helvetica Neue Medium"/>
                <a:sym typeface="Helvetica Neue Medium"/>
              </a:defRPr>
            </a:pPr>
            <a:r>
              <a:t>Continue monitoring additional behavioural signals as more historical data becomes available to improve predictive accuracy.</a:t>
            </a:r>
          </a:p>
          <a:p>
            <a:pPr marL="495300" indent="-495300">
              <a:lnSpc>
                <a:spcPct val="80000"/>
              </a:lnSpc>
              <a:spcBef>
                <a:spcPts val="0"/>
              </a:spcBef>
              <a:buSzPct val="123000"/>
              <a:buChar char="•"/>
              <a:defRPr spc="-78" sz="3900">
                <a:latin typeface="Helvetica Neue Medium"/>
                <a:ea typeface="Helvetica Neue Medium"/>
                <a:cs typeface="Helvetica Neue Medium"/>
                <a:sym typeface="Helvetica Neue Medium"/>
              </a:defRPr>
            </a:pPr>
          </a:p>
        </p:txBody>
      </p:sp>
      <p:pic>
        <p:nvPicPr>
          <p:cNvPr id="245" name="pasted-movie.png" descr="pasted-movie.png"/>
          <p:cNvPicPr>
            <a:picLocks noChangeAspect="1"/>
          </p:cNvPicPr>
          <p:nvPr/>
        </p:nvPicPr>
        <p:blipFill>
          <a:blip r:embed="rId2">
            <a:extLst/>
          </a:blip>
          <a:stretch>
            <a:fillRect/>
          </a:stretch>
        </p:blipFill>
        <p:spPr>
          <a:xfrm>
            <a:off x="939143" y="1108134"/>
            <a:ext cx="10895817" cy="4976530"/>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Part C — Communicate and Productions…"/>
          <p:cNvSpPr txBox="1"/>
          <p:nvPr>
            <p:ph type="title"/>
          </p:nvPr>
        </p:nvSpPr>
        <p:spPr>
          <a:xfrm>
            <a:off x="643561" y="1571081"/>
            <a:ext cx="23234716" cy="10120735"/>
          </a:xfrm>
          <a:prstGeom prst="rect">
            <a:avLst/>
          </a:prstGeom>
        </p:spPr>
        <p:txBody>
          <a:bodyPr/>
          <a:lstStyle/>
          <a:p>
            <a:pPr defTabSz="457200">
              <a:lnSpc>
                <a:spcPct val="100000"/>
              </a:lnSpc>
              <a:defRPr spc="0" sz="1200">
                <a:latin typeface="Arial"/>
                <a:ea typeface="Arial"/>
                <a:cs typeface="Arial"/>
                <a:sym typeface="Arial"/>
              </a:defRPr>
            </a:pPr>
          </a:p>
          <a:p>
            <a:pPr defTabSz="457200">
              <a:lnSpc>
                <a:spcPct val="100000"/>
              </a:lnSpc>
              <a:defRPr b="1" spc="0" sz="8000">
                <a:solidFill>
                  <a:srgbClr val="3988C2"/>
                </a:solidFill>
                <a:latin typeface="Arial"/>
                <a:ea typeface="Arial"/>
                <a:cs typeface="Arial"/>
                <a:sym typeface="Arial"/>
              </a:defRPr>
            </a:pPr>
            <a:r>
              <a:t>Part C — Communicate and Productions</a:t>
            </a:r>
          </a:p>
          <a:p>
            <a:pPr defTabSz="457200">
              <a:lnSpc>
                <a:spcPct val="100000"/>
              </a:lnSpc>
              <a:defRPr b="1" spc="0" sz="6700">
                <a:latin typeface="Arial"/>
                <a:ea typeface="Arial"/>
                <a:cs typeface="Arial"/>
                <a:sym typeface="Arial"/>
              </a:defRPr>
            </a:pPr>
            <a:r>
              <a:t>Build a clean monthly subscription fact suitable for churn reporting:  </a:t>
            </a:r>
          </a:p>
          <a:p>
            <a:pPr defTabSz="457200">
              <a:lnSpc>
                <a:spcPct val="100000"/>
              </a:lnSpc>
              <a:defRPr spc="0" sz="6700">
                <a:latin typeface="Arial"/>
                <a:ea typeface="Arial"/>
                <a:cs typeface="Arial"/>
                <a:sym typeface="Arial"/>
              </a:defRPr>
            </a:pPr>
          </a:p>
          <a:p>
            <a:pPr defTabSz="457200">
              <a:lnSpc>
                <a:spcPct val="100000"/>
              </a:lnSpc>
              <a:defRPr b="1" spc="0" sz="5000">
                <a:latin typeface="Arial"/>
                <a:ea typeface="Arial"/>
                <a:cs typeface="Arial"/>
                <a:sym typeface="Arial"/>
              </a:defRPr>
            </a:pPr>
            <a:r>
              <a:rPr b="0"/>
              <a:t>1. Executive Summary(One Page) </a:t>
            </a:r>
            <a:endParaRPr b="0"/>
          </a:p>
          <a:p>
            <a:pPr defTabSz="457200">
              <a:lnSpc>
                <a:spcPct val="100000"/>
              </a:lnSpc>
              <a:defRPr b="1" spc="0" sz="5000">
                <a:latin typeface="Arial"/>
                <a:ea typeface="Arial"/>
                <a:cs typeface="Arial"/>
                <a:sym typeface="Arial"/>
              </a:defRPr>
            </a:pPr>
            <a:endParaRPr b="0"/>
          </a:p>
          <a:p>
            <a:pPr defTabSz="457200">
              <a:lnSpc>
                <a:spcPct val="100000"/>
              </a:lnSpc>
              <a:defRPr spc="0" sz="5000">
                <a:latin typeface="Arial"/>
                <a:ea typeface="Arial"/>
                <a:cs typeface="Arial"/>
                <a:sym typeface="Arial"/>
              </a:defRPr>
            </a:pPr>
            <a:r>
              <a:t>2. Dashboard</a:t>
            </a:r>
          </a:p>
          <a:p>
            <a:pPr defTabSz="457200">
              <a:lnSpc>
                <a:spcPct val="100000"/>
              </a:lnSpc>
              <a:defRPr spc="0" sz="5000">
                <a:latin typeface="Arial"/>
                <a:ea typeface="Arial"/>
                <a:cs typeface="Arial"/>
                <a:sym typeface="Arial"/>
              </a:defRPr>
            </a:pPr>
          </a:p>
          <a:p>
            <a:pPr defTabSz="457200">
              <a:lnSpc>
                <a:spcPct val="100000"/>
              </a:lnSpc>
              <a:defRPr b="1" spc="0" sz="5000">
                <a:latin typeface="Arial"/>
                <a:ea typeface="Arial"/>
                <a:cs typeface="Arial"/>
                <a:sym typeface="Arial"/>
              </a:defRPr>
            </a:pPr>
            <a:r>
              <a:rPr b="0"/>
              <a:t>3. Productionisation</a:t>
            </a:r>
            <a:endParaRPr b="0"/>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Part C.1 : Executive Summary"/>
          <p:cNvSpPr txBox="1"/>
          <p:nvPr>
            <p:ph type="title" idx="4294967295"/>
          </p:nvPr>
        </p:nvSpPr>
        <p:spPr>
          <a:xfrm>
            <a:off x="7187464" y="-493165"/>
            <a:ext cx="15720305" cy="1998997"/>
          </a:xfrm>
          <a:prstGeom prst="rect">
            <a:avLst/>
          </a:prstGeom>
        </p:spPr>
        <p:txBody>
          <a:bodyPr anchor="ctr"/>
          <a:lstStyle>
            <a:lvl1pPr>
              <a:defRPr b="0" spc="-138" sz="6900">
                <a:latin typeface="Helvetica Neue Medium"/>
                <a:ea typeface="Helvetica Neue Medium"/>
                <a:cs typeface="Helvetica Neue Medium"/>
                <a:sym typeface="Helvetica Neue Medium"/>
              </a:defRPr>
            </a:lvl1pPr>
          </a:lstStyle>
          <a:p>
            <a:pPr/>
            <a:r>
              <a:t>Part C.1 : Executive Summary</a:t>
            </a:r>
          </a:p>
        </p:txBody>
      </p:sp>
      <p:sp>
        <p:nvSpPr>
          <p:cNvPr id="250" name="**Please refer to attached document in mail"/>
          <p:cNvSpPr txBox="1"/>
          <p:nvPr/>
        </p:nvSpPr>
        <p:spPr>
          <a:xfrm>
            <a:off x="6460693" y="4825159"/>
            <a:ext cx="11891773" cy="80843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**Please refer to attached document in mail</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2" name="pasted-movie.png" descr="pasted-movie.png"/>
          <p:cNvPicPr>
            <a:picLocks noChangeAspect="1"/>
          </p:cNvPicPr>
          <p:nvPr/>
        </p:nvPicPr>
        <p:blipFill>
          <a:blip r:embed="rId2">
            <a:extLst/>
          </a:blip>
          <a:stretch>
            <a:fillRect/>
          </a:stretch>
        </p:blipFill>
        <p:spPr>
          <a:xfrm>
            <a:off x="488820" y="1000675"/>
            <a:ext cx="10605992" cy="12508666"/>
          </a:xfrm>
          <a:prstGeom prst="rect">
            <a:avLst/>
          </a:prstGeom>
          <a:ln w="12700">
            <a:miter lim="400000"/>
          </a:ln>
        </p:spPr>
      </p:pic>
      <p:sp>
        <p:nvSpPr>
          <p:cNvPr id="253" name="Part C.2 : Dashboard"/>
          <p:cNvSpPr txBox="1"/>
          <p:nvPr>
            <p:ph type="title" idx="4294967295"/>
          </p:nvPr>
        </p:nvSpPr>
        <p:spPr>
          <a:xfrm>
            <a:off x="7187464" y="-493165"/>
            <a:ext cx="15720305" cy="1998997"/>
          </a:xfrm>
          <a:prstGeom prst="rect">
            <a:avLst/>
          </a:prstGeom>
        </p:spPr>
        <p:txBody>
          <a:bodyPr anchor="ctr"/>
          <a:lstStyle>
            <a:lvl1pPr>
              <a:defRPr b="0" spc="-138" sz="6900">
                <a:latin typeface="Helvetica Neue Medium"/>
                <a:ea typeface="Helvetica Neue Medium"/>
                <a:cs typeface="Helvetica Neue Medium"/>
                <a:sym typeface="Helvetica Neue Medium"/>
              </a:defRPr>
            </a:lvl1pPr>
          </a:lstStyle>
          <a:p>
            <a:pPr/>
            <a:r>
              <a:t>Part C.2 : Dashboard</a:t>
            </a:r>
          </a:p>
        </p:txBody>
      </p:sp>
      <p:sp>
        <p:nvSpPr>
          <p:cNvPr id="254" name="KPI cards (churn rate, active subs, at-risk count) Snapshot of business health today: 7.4% annualised churn, 622 active subscriptions, 52 customers currently flagged as at-risk.…"/>
          <p:cNvSpPr txBox="1"/>
          <p:nvPr/>
        </p:nvSpPr>
        <p:spPr>
          <a:xfrm>
            <a:off x="12590839" y="2149185"/>
            <a:ext cx="10420838" cy="11049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1200"/>
              </a:spcBef>
              <a:defRPr sz="3100">
                <a:latin typeface="Times Roman"/>
                <a:ea typeface="Times Roman"/>
                <a:cs typeface="Times Roman"/>
                <a:sym typeface="Times Roman"/>
              </a:defRPr>
            </a:pPr>
            <a:r>
              <a:rPr b="1" sz="3500" u="sng"/>
              <a:t>KPI cards (churn rate, active subs, at-risk count)</a:t>
            </a:r>
            <a:br/>
            <a:r>
              <a:rPr i="1"/>
              <a:t>Snapshot of business health today: 7.4% annualised churn, 622 active subscriptions, </a:t>
            </a:r>
            <a:r>
              <a:rPr i="1">
                <a:solidFill>
                  <a:schemeClr val="accent5">
                    <a:hueOff val="-82419"/>
                    <a:satOff val="-9513"/>
                    <a:lumOff val="-16343"/>
                  </a:schemeClr>
                </a:solidFill>
              </a:rPr>
              <a:t>52 customers currently flagged as at-risk</a:t>
            </a:r>
            <a:r>
              <a:rPr i="1"/>
              <a:t>.</a:t>
            </a:r>
          </a:p>
          <a:p>
            <a:pPr defTabSz="457200">
              <a:lnSpc>
                <a:spcPct val="100000"/>
              </a:lnSpc>
              <a:spcBef>
                <a:spcPts val="1200"/>
              </a:spcBef>
              <a:defRPr sz="3100">
                <a:latin typeface="Times Roman"/>
                <a:ea typeface="Times Roman"/>
                <a:cs typeface="Times Roman"/>
                <a:sym typeface="Times Roman"/>
              </a:defRPr>
            </a:pPr>
            <a:r>
              <a:rPr b="1" sz="3500" u="sng"/>
              <a:t>Monthly churn trend (12 months)</a:t>
            </a:r>
            <a:br/>
            <a:r>
              <a:t>Churn fluctuates between ~2% and ~13% annualised with no sustained upward or downward trend — normal variation at our current scale, </a:t>
            </a:r>
            <a:r>
              <a:rPr>
                <a:solidFill>
                  <a:schemeClr val="accent3">
                    <a:hueOff val="362282"/>
                    <a:satOff val="31803"/>
                    <a:lumOff val="-18242"/>
                  </a:schemeClr>
                </a:solidFill>
              </a:rPr>
              <a:t>not a deteriorating business</a:t>
            </a:r>
            <a:r>
              <a:t>.</a:t>
            </a:r>
          </a:p>
          <a:p>
            <a:pPr defTabSz="457200">
              <a:lnSpc>
                <a:spcPct val="100000"/>
              </a:lnSpc>
              <a:spcBef>
                <a:spcPts val="1200"/>
              </a:spcBef>
              <a:defRPr sz="3100">
                <a:latin typeface="Times Roman"/>
                <a:ea typeface="Times Roman"/>
                <a:cs typeface="Times Roman"/>
                <a:sym typeface="Times Roman"/>
              </a:defRPr>
            </a:pPr>
            <a:r>
              <a:rPr b="1" sz="3500" u="sng"/>
              <a:t>Subscription lifecycle breakdown</a:t>
            </a:r>
            <a:br/>
            <a:r>
              <a:t>Of 806 total subscriptions, 622 are healthy and active; the remainder splits cleanly into voluntary churn (113), failed activations (32), fraud (22), pending go-lives (10), and win-backs (7)</a:t>
            </a:r>
          </a:p>
          <a:p>
            <a:pPr defTabSz="457200">
              <a:lnSpc>
                <a:spcPct val="100000"/>
              </a:lnSpc>
              <a:spcBef>
                <a:spcPts val="1200"/>
              </a:spcBef>
              <a:defRPr sz="3100">
                <a:latin typeface="Times Roman"/>
                <a:ea typeface="Times Roman"/>
                <a:cs typeface="Times Roman"/>
                <a:sym typeface="Times Roman"/>
              </a:defRPr>
            </a:pPr>
            <a:r>
              <a:rPr b="1" sz="3500" u="sng"/>
              <a:t>Leading indicator scan</a:t>
            </a:r>
            <a:br/>
            <a:r>
              <a:t>Tested six behavioural signals against actual cancellations — only billing friction (unpaid/part-paid invoices) meaningfully raises </a:t>
            </a:r>
            <a:r>
              <a:rPr>
                <a:solidFill>
                  <a:schemeClr val="accent5">
                    <a:hueOff val="-82419"/>
                    <a:satOff val="-9513"/>
                    <a:lumOff val="-16343"/>
                  </a:schemeClr>
                </a:solidFill>
              </a:rPr>
              <a:t>risk (1.7x)</a:t>
            </a:r>
          </a:p>
          <a:p>
            <a:pPr defTabSz="457200">
              <a:lnSpc>
                <a:spcPct val="100000"/>
              </a:lnSpc>
              <a:spcBef>
                <a:spcPts val="1200"/>
              </a:spcBef>
              <a:defRPr sz="3100">
                <a:latin typeface="Times Roman"/>
                <a:ea typeface="Times Roman"/>
                <a:cs typeface="Times Roman"/>
                <a:sym typeface="Times Roman"/>
              </a:defRPr>
            </a:pPr>
            <a:r>
              <a:rPr b="1" sz="3500" u="sng"/>
              <a:t>At-risk customer table</a:t>
            </a:r>
            <a:br/>
            <a:r>
              <a:t>The actionable output: customers currently showing the billing-risk signal, ready for proactive retention outreach before they reach cancellation.</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Part C.3 : Productionisation"/>
          <p:cNvSpPr txBox="1"/>
          <p:nvPr>
            <p:ph type="title" idx="4294967295"/>
          </p:nvPr>
        </p:nvSpPr>
        <p:spPr>
          <a:xfrm>
            <a:off x="7187464" y="-493165"/>
            <a:ext cx="15720305" cy="1998997"/>
          </a:xfrm>
          <a:prstGeom prst="rect">
            <a:avLst/>
          </a:prstGeom>
        </p:spPr>
        <p:txBody>
          <a:bodyPr anchor="ctr"/>
          <a:lstStyle>
            <a:lvl1pPr>
              <a:defRPr b="0" spc="-138" sz="6900">
                <a:latin typeface="Helvetica Neue Medium"/>
                <a:ea typeface="Helvetica Neue Medium"/>
                <a:cs typeface="Helvetica Neue Medium"/>
                <a:sym typeface="Helvetica Neue Medium"/>
              </a:defRPr>
            </a:lvl1pPr>
          </a:lstStyle>
          <a:p>
            <a:pPr/>
            <a:r>
              <a:t>Part C.3 : Productionisation</a:t>
            </a:r>
          </a:p>
        </p:txBody>
      </p:sp>
      <p:sp>
        <p:nvSpPr>
          <p:cNvPr id="257" name="1. Data quality checks + notification framework…"/>
          <p:cNvSpPr txBox="1"/>
          <p:nvPr/>
        </p:nvSpPr>
        <p:spPr>
          <a:xfrm>
            <a:off x="628023" y="1288399"/>
            <a:ext cx="23127955" cy="114661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1200"/>
              </a:spcBef>
              <a:defRPr b="1" sz="2100">
                <a:latin typeface="Times Roman"/>
                <a:ea typeface="Times Roman"/>
                <a:cs typeface="Times Roman"/>
                <a:sym typeface="Times Roman"/>
              </a:defRPr>
            </a:pPr>
            <a:r>
              <a:t>1. Data quality checks + notification framework</a:t>
            </a:r>
          </a:p>
          <a:p>
            <a:pPr defTabSz="457200">
              <a:lnSpc>
                <a:spcPct val="100000"/>
              </a:lnSpc>
              <a:spcBef>
                <a:spcPts val="1200"/>
              </a:spcBef>
              <a:defRPr sz="2000">
                <a:latin typeface="Times Roman"/>
                <a:ea typeface="Times Roman"/>
                <a:cs typeface="Times Roman"/>
                <a:sym typeface="Times Roman"/>
              </a:defRPr>
            </a:pPr>
            <a:r>
              <a:t>Since Snowflake/bigquery doesn't enforce primary/unique key constraints, duplicate and integrity checks have to happen in the pipeline, not the database engine. dbt is the right tool for this — two tiers:</a:t>
            </a:r>
          </a:p>
          <a:p>
            <a:pPr defTabSz="457200">
              <a:lnSpc>
                <a:spcPct val="100000"/>
              </a:lnSpc>
              <a:spcBef>
                <a:spcPts val="1200"/>
              </a:spcBef>
              <a:defRPr sz="2000">
                <a:latin typeface="Times Roman"/>
                <a:ea typeface="Times Roman"/>
                <a:cs typeface="Times Roman"/>
                <a:sym typeface="Times Roman"/>
              </a:defRPr>
            </a:pPr>
            <a:r>
              <a:t>Structural tests (dbt's built-in unique, not_null, accepted_values, relationships) at RAW and staging — catch the mechanical stuff, like the 32 duplicate subscription_id rows we found.</a:t>
            </a:r>
          </a:p>
          <a:p>
            <a:pPr defTabSz="457200">
              <a:lnSpc>
                <a:spcPct val="100000"/>
              </a:lnSpc>
              <a:spcBef>
                <a:spcPts val="1200"/>
              </a:spcBef>
              <a:defRPr sz="2000">
                <a:latin typeface="Times Roman"/>
                <a:ea typeface="Times Roman"/>
                <a:cs typeface="Times Roman"/>
                <a:sym typeface="Times Roman"/>
              </a:defRPr>
            </a:pPr>
            <a:r>
              <a:t>Business-logic/KPI threshold tests (dbt singular tests) — e.g. "monthly active subscription count shouldn't drop &gt;10% month-over-month without a known cause," or "churn rate shouldn't exceed 15% annualised without flagging for review." These catch plausible-looking but wrong data, not just malformed data.</a:t>
            </a:r>
          </a:p>
          <a:p>
            <a:pPr defTabSz="457200">
              <a:lnSpc>
                <a:spcPct val="100000"/>
              </a:lnSpc>
              <a:spcBef>
                <a:spcPts val="1200"/>
              </a:spcBef>
              <a:defRPr sz="2000">
                <a:latin typeface="Times Roman"/>
                <a:ea typeface="Times Roman"/>
                <a:cs typeface="Times Roman"/>
                <a:sym typeface="Times Roman"/>
              </a:defRPr>
            </a:pPr>
            <a:r>
              <a:rPr b="1"/>
              <a:t>For notification: </a:t>
            </a:r>
            <a:r>
              <a:t>dbt Cloud has native Slack/email alerting on job failure. But any tool can be used, at the end developers should be notified if any data quality checks fails rather than waiting for BI/Business to inform.</a:t>
            </a:r>
          </a:p>
          <a:p>
            <a:pPr defTabSz="457200">
              <a:lnSpc>
                <a:spcPct val="100000"/>
              </a:lnSpc>
              <a:spcBef>
                <a:spcPts val="1200"/>
              </a:spcBef>
              <a:defRPr b="1" sz="2100">
                <a:latin typeface="Times Roman"/>
                <a:ea typeface="Times Roman"/>
                <a:cs typeface="Times Roman"/>
                <a:sym typeface="Times Roman"/>
              </a:defRPr>
            </a:pPr>
            <a:r>
              <a:t>2. Dimensional model + semantic layer + AI/RAG</a:t>
            </a:r>
          </a:p>
          <a:p>
            <a:pPr defTabSz="457200">
              <a:lnSpc>
                <a:spcPct val="100000"/>
              </a:lnSpc>
              <a:spcBef>
                <a:spcPts val="1200"/>
              </a:spcBef>
              <a:defRPr sz="2000">
                <a:latin typeface="Times Roman"/>
                <a:ea typeface="Times Roman"/>
                <a:cs typeface="Times Roman"/>
                <a:sym typeface="Times Roman"/>
              </a:defRPr>
            </a:pPr>
            <a:r>
              <a:t>I prioritize fact tables first given the time crunch for this assignment. But in Prod I would build dim_customer, dim_subscription, dim_date next, since KPI queries in the ANALYTICS layer get much cheaper and simpler with clean dimensions instead of re-deriving customer attributes in every mart query.</a:t>
            </a:r>
          </a:p>
          <a:p>
            <a:pPr defTabSz="457200">
              <a:lnSpc>
                <a:spcPct val="100000"/>
              </a:lnSpc>
              <a:spcBef>
                <a:spcPts val="1200"/>
              </a:spcBef>
              <a:defRPr sz="2000">
                <a:latin typeface="Times Roman"/>
                <a:ea typeface="Times Roman"/>
                <a:cs typeface="Times Roman"/>
                <a:sym typeface="Times Roman"/>
              </a:defRPr>
            </a:pPr>
            <a:r>
              <a:t>I would build semantic layer on top of dimension model based on KPIs/BI’s requirements like “customer_360”, “churn_analytics”, “product_performance” rather having dim_* and fct_* which will be jargons to AI agents and LLMs.</a:t>
            </a:r>
          </a:p>
          <a:p>
            <a:pPr defTabSz="457200">
              <a:lnSpc>
                <a:spcPct val="100000"/>
              </a:lnSpc>
              <a:spcBef>
                <a:spcPts val="1200"/>
              </a:spcBef>
              <a:defRPr sz="2000">
                <a:latin typeface="Times Roman"/>
                <a:ea typeface="Times Roman"/>
                <a:cs typeface="Times Roman"/>
                <a:sym typeface="Times Roman"/>
              </a:defRPr>
            </a:pPr>
            <a:r>
              <a:t>For future I would implement RAG pipeline so that LLMs don’t hallucinate (e,g, Cortex Search over unstructured data in Snowflake and other AI functions).</a:t>
            </a:r>
          </a:p>
          <a:p>
            <a:pPr defTabSz="457200">
              <a:lnSpc>
                <a:spcPct val="100000"/>
              </a:lnSpc>
              <a:spcBef>
                <a:spcPts val="1200"/>
              </a:spcBef>
              <a:defRPr b="1" sz="2100">
                <a:latin typeface="Times Roman"/>
                <a:ea typeface="Times Roman"/>
                <a:cs typeface="Times Roman"/>
                <a:sym typeface="Times Roman"/>
              </a:defRPr>
            </a:pPr>
            <a:r>
              <a:t>3. Governance — RBAC, tagging, row/column masking, Audit Tables etc </a:t>
            </a:r>
          </a:p>
          <a:p>
            <a:pPr defTabSz="457200">
              <a:lnSpc>
                <a:spcPct val="100000"/>
              </a:lnSpc>
              <a:spcBef>
                <a:spcPts val="1200"/>
              </a:spcBef>
              <a:defRPr sz="2000">
                <a:latin typeface="Times Roman"/>
                <a:ea typeface="Times Roman"/>
                <a:cs typeface="Times Roman"/>
                <a:sym typeface="Times Roman"/>
              </a:defRPr>
            </a:pPr>
            <a:r>
              <a:t>I would implement Role based access controls rather granting privileges to Users, and also keep these codes in separate gitrepo for security. e.g. Developer role gets write access to RAW, DEV etc whereas Analyst gets access to Gold layer only. </a:t>
            </a:r>
          </a:p>
          <a:p>
            <a:pPr defTabSz="457200">
              <a:lnSpc>
                <a:spcPct val="100000"/>
              </a:lnSpc>
              <a:spcBef>
                <a:spcPts val="1200"/>
              </a:spcBef>
              <a:defRPr sz="2000">
                <a:latin typeface="Times Roman"/>
                <a:ea typeface="Times Roman"/>
                <a:cs typeface="Times Roman"/>
                <a:sym typeface="Times Roman"/>
              </a:defRPr>
            </a:pPr>
            <a:r>
              <a:t>I would use tagging for data cataloging like finance, marketing, PII, Classified etc to have proper metadata. And implementing RLS/Masking becomes easy based on tagging instead of many tables. </a:t>
            </a:r>
          </a:p>
          <a:p>
            <a:pPr defTabSz="457200">
              <a:lnSpc>
                <a:spcPct val="100000"/>
              </a:lnSpc>
              <a:spcBef>
                <a:spcPts val="1200"/>
              </a:spcBef>
              <a:defRPr sz="2000">
                <a:latin typeface="Times Roman"/>
                <a:ea typeface="Times Roman"/>
                <a:cs typeface="Times Roman"/>
                <a:sym typeface="Times Roman"/>
              </a:defRPr>
            </a:pPr>
            <a:r>
              <a:t>Audit tables will track everyday rows inserted, updated, time running status and many more for all tables for better metadata management and auditing. </a:t>
            </a:r>
          </a:p>
          <a:p>
            <a:pPr defTabSz="457200">
              <a:lnSpc>
                <a:spcPct val="100000"/>
              </a:lnSpc>
              <a:spcBef>
                <a:spcPts val="1200"/>
              </a:spcBef>
              <a:defRPr b="1" sz="2100">
                <a:latin typeface="Times Roman"/>
                <a:ea typeface="Times Roman"/>
                <a:cs typeface="Times Roman"/>
                <a:sym typeface="Times Roman"/>
              </a:defRPr>
            </a:pPr>
            <a:r>
              <a:t>4. Reusable ingestion framework over per-source pipelines</a:t>
            </a:r>
          </a:p>
          <a:p>
            <a:pPr defTabSz="457200">
              <a:lnSpc>
                <a:spcPct val="100000"/>
              </a:lnSpc>
              <a:spcBef>
                <a:spcPts val="1200"/>
              </a:spcBef>
              <a:defRPr sz="2000">
                <a:latin typeface="Times Roman"/>
                <a:ea typeface="Times Roman"/>
                <a:cs typeface="Times Roman"/>
                <a:sym typeface="Times Roman"/>
              </a:defRPr>
            </a:pPr>
            <a:r>
              <a:t>A metadata-driven framework (a config table listing source, target, load type, schema) that one generic ADF pipeline reads and executes, rather than one pipeline per CSV/table. This will make new data source a config-row insert instead of a new pipeline build. As Project should be process dependent not individual dependent.</a:t>
            </a:r>
          </a:p>
          <a:p>
            <a:pPr defTabSz="457200">
              <a:lnSpc>
                <a:spcPct val="100000"/>
              </a:lnSpc>
              <a:spcBef>
                <a:spcPts val="1200"/>
              </a:spcBef>
              <a:defRPr b="1" sz="2100">
                <a:latin typeface="Times Roman"/>
                <a:ea typeface="Times Roman"/>
                <a:cs typeface="Times Roman"/>
                <a:sym typeface="Times Roman"/>
              </a:defRPr>
            </a:pPr>
            <a:r>
              <a:t>5. Orchestration</a:t>
            </a:r>
          </a:p>
          <a:p>
            <a:pPr defTabSz="457200">
              <a:lnSpc>
                <a:spcPct val="100000"/>
              </a:lnSpc>
              <a:spcBef>
                <a:spcPts val="1200"/>
              </a:spcBef>
              <a:defRPr sz="2000">
                <a:latin typeface="Times Roman"/>
                <a:ea typeface="Times Roman"/>
                <a:cs typeface="Times Roman"/>
                <a:sym typeface="Times Roman"/>
              </a:defRPr>
            </a:pPr>
            <a:r>
              <a:t>Stay on current scheduler what ever we are using may be in-house schedules system (like TASK in snowflake) or any other ETL tool like ADF, rather introducing new tech stack like Airflow/Dagster that would complicate the project. If in future there would be any requirements, then we can add it. </a:t>
            </a:r>
          </a:p>
          <a:p>
            <a:pPr defTabSz="457200">
              <a:lnSpc>
                <a:spcPct val="100000"/>
              </a:lnSpc>
              <a:spcBef>
                <a:spcPts val="1200"/>
              </a:spcBef>
              <a:defRPr b="1" sz="2100">
                <a:latin typeface="Times Roman"/>
                <a:ea typeface="Times Roman"/>
                <a:cs typeface="Times Roman"/>
                <a:sym typeface="Times Roman"/>
              </a:defRPr>
            </a:pPr>
            <a:r>
              <a:t>6. CI/CD via GitHub | Version Control | Pull Request approval management system </a:t>
            </a:r>
          </a:p>
          <a:p>
            <a:pPr marL="254000" indent="-254000" defTabSz="457200">
              <a:lnSpc>
                <a:spcPct val="100000"/>
              </a:lnSpc>
              <a:spcBef>
                <a:spcPts val="1200"/>
              </a:spcBef>
              <a:buSzPct val="123000"/>
              <a:buChar char="•"/>
              <a:defRPr sz="2000">
                <a:latin typeface="Times Roman"/>
                <a:ea typeface="Times Roman"/>
                <a:cs typeface="Times Roman"/>
                <a:sym typeface="Times Roman"/>
              </a:defRPr>
            </a:pPr>
            <a:r>
              <a:t>Feature branches → PR → required review → merge to main should be high level process. </a:t>
            </a:r>
          </a:p>
          <a:p>
            <a:pPr marL="254000" indent="-254000" defTabSz="457200">
              <a:lnSpc>
                <a:spcPct val="100000"/>
              </a:lnSpc>
              <a:spcBef>
                <a:spcPts val="1200"/>
              </a:spcBef>
              <a:buSzPct val="123000"/>
              <a:buChar char="•"/>
              <a:defRPr sz="2000">
                <a:latin typeface="Times Roman"/>
                <a:ea typeface="Times Roman"/>
                <a:cs typeface="Times Roman"/>
                <a:sym typeface="Times Roman"/>
              </a:defRPr>
            </a:pPr>
            <a:r>
              <a:t>Promote CURATED/ANALYTICS to production via a protected main branch with environment-scoped Snowflake credentials (dev/CI role can't write to prod schemas).</a:t>
            </a:r>
          </a:p>
          <a:p>
            <a:pPr marL="254000" indent="-254000" defTabSz="457200">
              <a:lnSpc>
                <a:spcPct val="100000"/>
              </a:lnSpc>
              <a:spcBef>
                <a:spcPts val="1200"/>
              </a:spcBef>
              <a:buSzPct val="123000"/>
              <a:buChar char="•"/>
              <a:defRPr sz="2000">
                <a:latin typeface="Times Roman"/>
                <a:ea typeface="Times Roman"/>
                <a:cs typeface="Times Roman"/>
                <a:sym typeface="Times Roman"/>
              </a:defRPr>
            </a:pPr>
            <a:r>
              <a:t>dbt docs generate as a CI step too, so documentation never drifts out of sync with the actual models — a stale docs site is worse than no docs site, because it's actively misleading.</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Thank You for this opportunity !"/>
          <p:cNvSpPr txBox="1"/>
          <p:nvPr>
            <p:ph type="body" sz="half" idx="1"/>
          </p:nvPr>
        </p:nvSpPr>
        <p:spPr>
          <a:xfrm>
            <a:off x="1206500" y="4713446"/>
            <a:ext cx="21971001" cy="3874313"/>
          </a:xfrm>
          <a:prstGeom prst="rect">
            <a:avLst/>
          </a:prstGeom>
        </p:spPr>
        <p:txBody>
          <a:bodyPr/>
          <a:lstStyle/>
          <a:p>
            <a:pPr/>
            <a:r>
              <a:t>Thank You for this opportunity !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3_DynamicLight">
  <a:themeElements>
    <a:clrScheme name="33_DynamicLight">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3_DynamicLight">
  <a:themeElements>
    <a:clrScheme name="33_DynamicLight">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3_DynamicLight">
      <a:majorFont>
        <a:latin typeface="Helvetica Neue"/>
        <a:ea typeface="Helvetica Neue"/>
        <a:cs typeface="Helvetica Neue"/>
      </a:majorFont>
      <a:minorFont>
        <a:latin typeface="Helvetica Neue"/>
        <a:ea typeface="Helvetica Neue"/>
        <a:cs typeface="Helvetica Neue"/>
      </a:minorFont>
    </a:fontScheme>
    <a:fmtScheme name="33_Dynamic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